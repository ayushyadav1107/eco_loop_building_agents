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7274" y="1203454"/>
            <a:ext cx="592455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marL="0" indent="0">
              <a:spcAft>
                <a:spcPts val="1300"/>
              </a:spcAft>
              <a:buNone/>
            </a:pPr>
            <a:r>
              <a:rPr sz="1500" b="1">
                <a:solidFill>
                  <a:srgbClr val="121B2B"/>
                </a:solidFill>
                <a:latin typeface="Arial"/>
              </a:rPr>
              <a:t>Problem Statement ID  –  &lt;&lt;FILL IN&gt;&gt;</a:t>
            </a:r>
            <a:endParaRPr lang="en-US" dirty="0"/>
          </a:p>
          <a:p>
            <a:pPr algn="l" marL="0" indent="0">
              <a:spcAft>
                <a:spcPts val="1300"/>
              </a:spcAft>
              <a:buNone/>
            </a:pPr>
            <a:r>
              <a:rPr sz="1500" b="0">
                <a:solidFill>
                  <a:srgbClr val="121B2B"/>
                </a:solidFill>
                <a:latin typeface="Arial"/>
              </a:rPr>
              <a:t>Problem Statement Title  –  Eco-Loop Building Agents: autonomous closed-loop HVAC control using EnergyPlus, MCP and a local open-source LLM</a:t>
            </a:r>
          </a:p>
          <a:p>
            <a:pPr algn="l" marL="0" indent="0">
              <a:spcAft>
                <a:spcPts val="1300"/>
              </a:spcAft>
              <a:buNone/>
            </a:pPr>
            <a:r>
              <a:rPr sz="1500" b="0">
                <a:solidFill>
                  <a:srgbClr val="121B2B"/>
                </a:solidFill>
                <a:latin typeface="Arial"/>
              </a:rPr>
              <a:t>Theme  –  &lt;&lt;FILL IN&gt;&gt;   (Smart Automation / Sustainability)</a:t>
            </a:r>
          </a:p>
          <a:p>
            <a:pPr algn="l" marL="0" indent="0">
              <a:spcAft>
                <a:spcPts val="1300"/>
              </a:spcAft>
              <a:buNone/>
            </a:pPr>
            <a:r>
              <a:rPr sz="1500" b="0">
                <a:solidFill>
                  <a:srgbClr val="121B2B"/>
                </a:solidFill>
                <a:latin typeface="Arial"/>
              </a:rPr>
              <a:t>PS Category  –  Software</a:t>
            </a:r>
          </a:p>
          <a:p>
            <a:pPr algn="l" marL="0" indent="0">
              <a:spcAft>
                <a:spcPts val="1300"/>
              </a:spcAft>
              <a:buNone/>
            </a:pPr>
            <a:r>
              <a:rPr sz="1500" b="0">
                <a:solidFill>
                  <a:srgbClr val="121B2B"/>
                </a:solidFill>
                <a:latin typeface="Arial"/>
              </a:rPr>
              <a:t>Student Name  –  Ayush Yadav</a:t>
            </a:r>
          </a:p>
          <a:p>
            <a:pPr algn="l" marL="0" indent="0">
              <a:spcAft>
                <a:spcPts val="1300"/>
              </a:spcAft>
              <a:buNone/>
            </a:pPr>
            <a:r>
              <a:rPr sz="1500" b="0">
                <a:solidFill>
                  <a:srgbClr val="121B2B"/>
                </a:solidFill>
                <a:latin typeface="Arial"/>
              </a:rPr>
              <a:t>Student ID  –  &lt;&lt;FILL IN&gt;&gt;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37160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900"/>
              </a:spcAft>
              <a:buNone/>
            </a:pPr>
            <a:r>
              <a:rPr sz="2100" b="1">
                <a:solidFill>
                  <a:srgbClr val="C24A18"/>
                </a:solidFill>
                <a:latin typeface="Arial"/>
              </a:rPr>
              <a:t>A building that runs itself.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>
                <a:solidFill>
                  <a:srgbClr val="121B2B"/>
                </a:solidFill>
                <a:latin typeface="Arial"/>
              </a:rPr>
              <a:t>EnergyPlus supplies the physics, a local open-source LLM supplies the judgement, and the Model Context Protocol carries every reading and every command between them — while the simulation is still running.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20040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3400" b="1">
                <a:solidFill>
                  <a:srgbClr val="C24A18"/>
                </a:solidFill>
                <a:latin typeface="Arial"/>
              </a:rPr>
              <a:t>-8.5%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>
                <a:solidFill>
                  <a:srgbClr val="4A5768"/>
                </a:solidFill>
                <a:latin typeface="Arial"/>
              </a:rPr>
              <a:t>HVAC energy, summer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41605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3400" b="1">
                <a:solidFill>
                  <a:srgbClr val="0D7A4F"/>
                </a:solidFill>
                <a:latin typeface="Arial"/>
              </a:rPr>
              <a:t>336/336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>
                <a:solidFill>
                  <a:srgbClr val="4A5768"/>
                </a:solidFill>
                <a:latin typeface="Arial"/>
              </a:rPr>
              <a:t>agent turns, zero failures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512064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3400" b="1">
                <a:solidFill>
                  <a:srgbClr val="0D7A4F"/>
                </a:solidFill>
                <a:latin typeface="Arial"/>
              </a:rPr>
              <a:t>100%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>
                <a:solidFill>
                  <a:srgbClr val="4A5768"/>
                </a:solidFill>
                <a:latin typeface="Arial"/>
              </a:rPr>
              <a:t>open source, runs on a laptop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70916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sz="1200" b="1">
                <a:solidFill>
                  <a:srgbClr val="C24A18"/>
                </a:solidFill>
                <a:latin typeface="Arial"/>
              </a:rPr>
              <a:t>Built with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200" b="0">
                <a:solidFill>
                  <a:srgbClr val="4A5768"/>
                </a:solidFill>
                <a:latin typeface="Arial"/>
              </a:rPr>
              <a:t>EnergyPlus 26.1  ·  pyenergyplus  ·  FastMCP  ·  Model Context Protocol  ·  Ollama + Llama 3.2 3B  ·  Pydantic  ·  Streamlit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200" b="0">
                <a:solidFill>
                  <a:srgbClr val="4A5768"/>
                </a:solidFill>
                <a:latin typeface="Arial"/>
              </a:rPr>
              <a:t>Everything runs locally. No cloud inference, no API keys, no per-query cost.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62356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sz="1600" b="1">
                <a:solidFill>
                  <a:srgbClr val="C24A18"/>
                </a:solidFill>
                <a:latin typeface="Arial"/>
              </a:rPr>
              <a:t>Proposed Solution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algn="l" marL="0" indent="0">
              <a:spcAft>
                <a:spcPts val="600"/>
              </a:spcAft>
              <a:buNone/>
            </a:pPr>
            <a:r>
              <a:rPr sz="1300" b="0">
                <a:solidFill>
                  <a:srgbClr val="121B2B"/>
                </a:solidFill>
                <a:latin typeface="Arial"/>
              </a:rPr>
              <a:t>Traditional BMS follow rigid clock schedules. Eco-Loop turns the building into a self-correcting agent.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600" b="1">
                <a:solidFill>
                  <a:srgbClr val="C24A18"/>
                </a:solidFill>
                <a:latin typeface="Arial"/>
              </a:rPr>
              <a:t>Detailed explanation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EnergyPlus runs inside the Python process; sensors are read every zone timestep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Every 60 simulated minutes the aggregated state goes to a local LLM through six MCP tools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The model reasons over comfort, demand and grid carbon, then returns setpoints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600" b="1">
                <a:solidFill>
                  <a:srgbClr val="C24A18"/>
                </a:solidFill>
                <a:latin typeface="Arial"/>
              </a:rPr>
              <a:t>How it addresses the problem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Control adapts continuously to weather, occupancy and carbon intensity instead of a fixed schedule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600" b="1">
                <a:solidFill>
                  <a:srgbClr val="C24A18"/>
                </a:solidFill>
                <a:latin typeface="Arial"/>
              </a:rPr>
              <a:t>Innovation and uniqueness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Setpoints are injected into the LIVE solver via the actuator API - no IDF rewrite, no restart, so the loop closes within one simulation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MCP is the safety boundary: every command is validated server-side before it can reach an actuator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363" name="Picture 15362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577840" cy="1889268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6309360" y="3246120"/>
            <a:ext cx="5577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00" b="1">
                <a:solidFill>
                  <a:srgbClr val="0D7A4F"/>
                </a:solidFill>
                <a:latin typeface="Arial"/>
              </a:rPr>
              <a:t>Measured, not projected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>
                <a:solidFill>
                  <a:srgbClr val="121B2B"/>
                </a:solidFill>
                <a:latin typeface="Arial"/>
              </a:rPr>
              <a:t>8.5% less HVAC energy across a summer week, while holding occupants closer to thermal neutrality than the baseline schedule (mean PMV -0.43 → -0.02).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6309360" y="4572000"/>
            <a:ext cx="5577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00" b="1">
                <a:solidFill>
                  <a:srgbClr val="C24A18"/>
                </a:solidFill>
                <a:latin typeface="Arial"/>
              </a:rPr>
              <a:t>Why it is different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>
                <a:solidFill>
                  <a:srgbClr val="121B2B"/>
                </a:solidFill>
                <a:latin typeface="Arial"/>
              </a:rPr>
              <a:t>Most LLM-and-simulation work rewrites the model file and re-runs it. That can only compare finished runs — it cannot react to a zone drifting out of comfort at 14:00 on day 3. Eco-Loop closes the loop inside the simulation.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51560"/>
            <a:ext cx="109728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l">
              <a:spcAft>
                <a:spcPts val="700"/>
              </a:spcAft>
              <a:buFont typeface="Arial" panose="020B0604020202020204" pitchFamily="34" charset="0"/>
              <a:buNone/>
            </a:pPr>
            <a:r>
              <a:rPr sz="1300" b="0">
                <a:solidFill>
                  <a:srgbClr val="121B2B"/>
                </a:solidFill>
                <a:latin typeface="Arial"/>
              </a:rPr>
              <a:t>Technologies   EnergyPlus 26.1 (pyenergyplus C API)  ·  Python  ·  FastMCP over streamable HTTP  ·  Ollama running Llama 3.2 3B  ·  Pydantic validation  ·  Streamlit + Plotly dashboard</a:t>
            </a:r>
          </a:p>
          <a:p>
            <a:pPr algn="l" marL="0" indent="0">
              <a:spcAft>
                <a:spcPts val="700"/>
              </a:spcAft>
              <a:buNone/>
            </a:pPr>
            <a:r>
              <a:rPr sz="1300" b="0">
                <a:solidFill>
                  <a:srgbClr val="121B2B"/>
                </a:solidFill>
                <a:latin typeface="Arial"/>
              </a:rPr>
              <a:t>Methodology   sample every timestep  →  aggregate per control interval  →  LLM tool-calling turn  →  validate  →  inject into live actuators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7411" name="Picture 17410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14600"/>
            <a:ext cx="10561320" cy="39136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2423160"/>
            <a:ext cx="5486400" cy="4023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600" b="1">
                <a:solidFill>
                  <a:srgbClr val="C24A18"/>
                </a:solidFill>
                <a:latin typeface="Arial"/>
              </a:rPr>
              <a:t>Feasibility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Runs end to end on one consumer laptop - 4 GB VRAM, no cloud, no API cost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Fully open source: EnergyPlus, Llama 3.2, FastMCP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600" b="1">
                <a:solidFill>
                  <a:srgbClr val="C24A18"/>
                </a:solidFill>
                <a:latin typeface="Arial"/>
              </a:rPr>
              <a:t>Potential challenges and risks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LLM latency inside a blocking simulation callback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A small model can move the wrong setpoint, or run heating and cooling against each other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One setpoint pair cannot satisfy five differently-loaded zones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6400800" y="242316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900"/>
              </a:spcAft>
              <a:buNone/>
            </a:pPr>
            <a:r>
              <a:rPr sz="1600" b="1">
                <a:solidFill>
                  <a:srgbClr val="C24A18"/>
                </a:solidFill>
                <a:latin typeface="Arial"/>
              </a:rPr>
              <a:t>Strategies for overcoming them</a:t>
            </a:r>
          </a:p>
          <a:p>
            <a:pPr algn="l" marL="182880" indent="-182880">
              <a:spcAft>
                <a:spcPts val="9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Interval batching + a hard per-turn deadline; on timeout the loop holds the last accepted command rather than stalling</a:t>
            </a:r>
          </a:p>
          <a:p>
            <a:pPr algn="l" marL="182880" indent="-182880">
              <a:spcAft>
                <a:spcPts val="9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Observations state the required direction, so the model cannot invert the physics</a:t>
            </a:r>
          </a:p>
          <a:p>
            <a:pPr algn="l" marL="182880" indent="-182880">
              <a:spcAft>
                <a:spcPts val="9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Seasonal changeover parks the idle mode's setpoint - heating and cooling can never fight</a:t>
            </a:r>
          </a:p>
          <a:p>
            <a:pPr algn="l" marL="182880" indent="-182880">
              <a:spcAft>
                <a:spcPts val="9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A per-zone proportional trim corrects each zone from its own PMV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12648" y="1143000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3400" b="1">
                <a:solidFill>
                  <a:srgbClr val="0D7A4F"/>
                </a:solidFill>
                <a:latin typeface="Arial"/>
              </a:rPr>
              <a:t>336 / 336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>
                <a:solidFill>
                  <a:srgbClr val="4A5768"/>
                </a:solidFill>
                <a:latin typeface="Arial"/>
              </a:rPr>
              <a:t>agent turns completed - 0 fallbacks, 0 timeouts, 0 actuation errors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434840" y="1143000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3400" b="1">
                <a:solidFill>
                  <a:srgbClr val="C24A18"/>
                </a:solidFill>
                <a:latin typeface="Arial"/>
              </a:rPr>
              <a:t>-8.5%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>
                <a:solidFill>
                  <a:srgbClr val="4A5768"/>
                </a:solidFill>
                <a:latin typeface="Arial"/>
              </a:rPr>
              <a:t>HVAC energy, summer week (-3.7% winter)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229600" y="1143000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3400" b="1">
                <a:solidFill>
                  <a:srgbClr val="C24A18"/>
                </a:solidFill>
                <a:latin typeface="Arial"/>
              </a:rPr>
              <a:t>2.1 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>
                <a:solidFill>
                  <a:srgbClr val="4A5768"/>
                </a:solidFill>
                <a:latin typeface="Arial"/>
              </a:rPr>
              <a:t>median agent decision latency, on-device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2648" y="1097280"/>
            <a:ext cx="10972800" cy="1097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1">
                <a:solidFill>
                  <a:srgbClr val="C24A18"/>
                </a:solidFill>
                <a:latin typeface="Arial"/>
              </a:rPr>
              <a:t>Code  ·  github.com/ayushYadav1107/Eco_loop_building_agents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250" b="0">
                <a:solidFill>
                  <a:srgbClr val="121B2B"/>
                </a:solidFill>
                <a:latin typeface="Arial"/>
              </a:rPr>
              <a:t>Baseline and runtime-generated .idf models, the full agent decision trail (agent_decisions.jsonl), per-timestep EnergyPlus results and the savings dashboard are committed - a fresh clone reproduces these figures.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decis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86000"/>
            <a:ext cx="10561320" cy="391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234440"/>
            <a:ext cx="6035040" cy="484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500" b="1">
                <a:solidFill>
                  <a:srgbClr val="C24A18"/>
                </a:solidFill>
                <a:latin typeface="Arial"/>
              </a:rPr>
              <a:t>Simulation and building physics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EnergyPlus Engineering Reference and EMS Application Guide - energyplus.net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pyenergyplus Data Exchange API (get_variable_handle, set_actuator_value)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ISO 7730:2005 and ASHRAE Standard 55 - PMV/PPD thermal comfort model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500" b="1">
                <a:solidFill>
                  <a:srgbClr val="C24A18"/>
                </a:solidFill>
                <a:latin typeface="Arial"/>
              </a:rPr>
              <a:t>Agent, protocol and inference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Model Context Protocol specification - modelcontextprotocol.io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FastMCP - gofastmcp.com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Meta Llama 3.2 served locally through Ollama - ollama.com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500" b="1">
                <a:solidFill>
                  <a:srgbClr val="C24A18"/>
                </a:solidFill>
                <a:latin typeface="Arial"/>
              </a:rPr>
              <a:t>Project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121B2B"/>
                </a:solidFill>
                <a:latin typeface="Arial"/>
              </a:rPr>
              <a:t>Repository, architecture document and reproducible results - github.com/ayushYadav1107/Eco_loop_building_agents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6858000" y="123444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800"/>
              </a:spcAft>
              <a:buNone/>
            </a:pPr>
            <a:r>
              <a:rPr sz="1600" b="1">
                <a:solidFill>
                  <a:srgbClr val="C24A18"/>
                </a:solidFill>
                <a:latin typeface="Arial"/>
              </a:rPr>
              <a:t>Reproduce the result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150" b="1">
                <a:solidFill>
                  <a:srgbClr val="121B2B"/>
                </a:solidFill>
                <a:latin typeface="Arial"/>
              </a:rPr>
              <a:t>python main.py prepare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150" b="1">
                <a:solidFill>
                  <a:srgbClr val="121B2B"/>
                </a:solidFill>
                <a:latin typeface="Arial"/>
              </a:rPr>
              <a:t>python main.py run-baseline --start 07-15 --end 07-21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150" b="1">
                <a:solidFill>
                  <a:srgbClr val="121B2B"/>
                </a:solidFill>
                <a:latin typeface="Arial"/>
              </a:rPr>
              <a:t>python main.py run-ai --start 07-15 --end 07-21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150" b="1">
                <a:solidFill>
                  <a:srgbClr val="121B2B"/>
                </a:solidFill>
                <a:latin typeface="Arial"/>
              </a:rPr>
              <a:t>python main.py dashboard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200" b="0">
                <a:solidFill>
                  <a:srgbClr val="4A5768"/>
                </a:solidFill>
                <a:latin typeface="Arial"/>
              </a:rPr>
              <a:t>The controller runs at temperature 0, so repeated runs return identical totals — the comparison is auditable rather than anecdotal.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1">
                <a:solidFill>
                  <a:srgbClr val="C24A18"/>
                </a:solidFill>
                <a:latin typeface="Arial"/>
              </a:rPr>
              <a:t>Honest limitation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200" b="0">
                <a:solidFill>
                  <a:srgbClr val="4A5768"/>
                </a:solidFill>
                <a:latin typeface="Arial"/>
              </a:rPr>
              <a:t>One setpoint pair drives five differently-loaded zones. Per zone the agent holds 85–96% of occupied time in the PMV band; the stricter worst-zone metric is lower. Per-zone setpoints are the next step.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