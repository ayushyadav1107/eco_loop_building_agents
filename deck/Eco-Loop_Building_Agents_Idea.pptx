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8" r:id="rId3"/>
    <p:sldId id="281" r:id="rId4"/>
    <p:sldId id="290" r:id="rId5"/>
    <p:sldId id="293" r:id="rId6"/>
    <p:sldId id="299" r:id="rId7"/>
    <p:sldId id="296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7/24/2026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F277-D966-5891-8E8E-FE1852E6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63166A99-EAE2-2E28-993F-D5871297B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4ED88F3D-7791-59C8-716F-0AAD4C669A9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C82298B-112C-33CB-5F98-D6F1C4A4C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30513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6537960" y="5175504"/>
            <a:ext cx="5212080" cy="978408"/>
          </a:xfrm>
          <a:prstGeom prst="roundRect">
            <a:avLst>
              <a:gd name="adj" fmla="val 3500"/>
            </a:avLst>
          </a:prstGeom>
          <a:solidFill>
            <a:srgbClr val="1B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537960" y="4087368"/>
            <a:ext cx="5212080" cy="978408"/>
          </a:xfrm>
          <a:prstGeom prst="roundRect">
            <a:avLst>
              <a:gd name="adj" fmla="val 3500"/>
            </a:avLst>
          </a:prstGeom>
          <a:solidFill>
            <a:srgbClr val="1B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537960" y="2999232"/>
            <a:ext cx="5212080" cy="978408"/>
          </a:xfrm>
          <a:prstGeom prst="roundRect">
            <a:avLst>
              <a:gd name="adj" fmla="val 3500"/>
            </a:avLst>
          </a:prstGeom>
          <a:solidFill>
            <a:srgbClr val="1B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84048" y="1188720"/>
            <a:ext cx="5852160" cy="3310128"/>
          </a:xfrm>
          <a:prstGeom prst="roundRect">
            <a:avLst>
              <a:gd name="adj" fmla="val 3500"/>
            </a:avLst>
          </a:prstGeom>
          <a:solidFill>
            <a:srgbClr val="1B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033A5-F70E-7E73-0B8C-FA62C08DE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z="1000">
                <a:solidFill>
                  <a:srgbClr val="A8BACE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9EC04-BCF1-5A69-7D5A-95D43C97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E0A8E5C6-6BFC-01E5-DDF5-B6A7738A64F4}"/>
              </a:ext>
            </a:extLst>
          </p:cNvPr>
          <p:cNvSpPr txBox="1">
            <a:spLocks/>
          </p:cNvSpPr>
          <p:nvPr/>
        </p:nvSpPr>
        <p:spPr bwMode="auto">
          <a:xfrm>
            <a:off x="1415369" y="-365784"/>
            <a:ext cx="8534400" cy="175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marL="4572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2pPr>
            <a:lvl3pPr marL="9144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3pPr>
            <a:lvl4pPr marL="13716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4pPr>
            <a:lvl5pPr marL="18288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rgbClr val="F4F7FA"/>
                </a:solidFill>
                <a:latin typeface="Cambria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1BDE7-2DA0-F526-CF6E-F50D43C2C5FE}"/>
              </a:ext>
            </a:extLst>
          </p:cNvPr>
          <p:cNvSpPr txBox="1"/>
          <p:nvPr/>
        </p:nvSpPr>
        <p:spPr>
          <a:xfrm>
            <a:off x="658368" y="1371600"/>
            <a:ext cx="5349240" cy="333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marL="0" indent="0">
              <a:spcAft>
                <a:spcPts val="1000"/>
              </a:spcAft>
              <a:buNone/>
            </a:pPr>
            <a:r>
              <a:rPr sz="1350" b="1">
                <a:solidFill>
                  <a:srgbClr val="F28A4C"/>
                </a:solidFill>
                <a:latin typeface="Calibri"/>
              </a:rPr>
              <a:t>Problem Statement ID   &lt;&lt;FILL IN&gt;&gt;</a:t>
            </a:r>
            <a:endParaRPr lang="en-US" dirty="0"/>
          </a:p>
          <a:p>
            <a:pPr algn="l" marL="0" indent="0">
              <a:spcAft>
                <a:spcPts val="1000"/>
              </a:spcAft>
              <a:buNone/>
            </a:pPr>
            <a:r>
              <a:rPr sz="1350" b="0">
                <a:solidFill>
                  <a:srgbClr val="F4F7FA"/>
                </a:solidFill>
                <a:latin typeface="Calibri"/>
              </a:rPr>
              <a:t>Problem Statement Title   Eco-Loop Building Agents — autonomous closed-loop HVAC control using EnergyPlus, MCP and a local open-source LLM</a:t>
            </a:r>
          </a:p>
          <a:p>
            <a:pPr algn="l" marL="0" indent="0">
              <a:spcAft>
                <a:spcPts val="1000"/>
              </a:spcAft>
              <a:buNone/>
            </a:pPr>
            <a:r>
              <a:rPr sz="1350" b="0">
                <a:solidFill>
                  <a:srgbClr val="F4F7FA"/>
                </a:solidFill>
                <a:latin typeface="Calibri"/>
              </a:rPr>
              <a:t>Theme   &lt;&lt;FILL IN&gt;&gt;</a:t>
            </a:r>
          </a:p>
          <a:p>
            <a:pPr algn="l" marL="0" indent="0">
              <a:spcAft>
                <a:spcPts val="1000"/>
              </a:spcAft>
              <a:buNone/>
            </a:pPr>
            <a:r>
              <a:rPr sz="1350" b="0">
                <a:solidFill>
                  <a:srgbClr val="F4F7FA"/>
                </a:solidFill>
                <a:latin typeface="Calibri"/>
              </a:rPr>
              <a:t>PS Category   Software</a:t>
            </a:r>
          </a:p>
          <a:p>
            <a:pPr algn="l" marL="0" indent="0">
              <a:spcAft>
                <a:spcPts val="1000"/>
              </a:spcAft>
              <a:buNone/>
            </a:pPr>
            <a:r>
              <a:rPr sz="1350" b="0">
                <a:solidFill>
                  <a:srgbClr val="F4F7FA"/>
                </a:solidFill>
                <a:latin typeface="Calibri"/>
              </a:rPr>
              <a:t>Student Name   Ayush Yadav</a:t>
            </a:r>
          </a:p>
          <a:p>
            <a:pPr algn="l" marL="0" indent="0">
              <a:spcAft>
                <a:spcPts val="1000"/>
              </a:spcAft>
              <a:buNone/>
            </a:pPr>
            <a:r>
              <a:rPr sz="1350" b="0">
                <a:solidFill>
                  <a:srgbClr val="F4F7FA"/>
                </a:solidFill>
                <a:latin typeface="Calibri"/>
              </a:rPr>
              <a:t>Student ID   &lt;&lt;FILL IN&gt;&gt;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298448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800"/>
              </a:spcAft>
              <a:buNone/>
            </a:pPr>
            <a:r>
              <a:rPr sz="2200" b="1">
                <a:solidFill>
                  <a:srgbClr val="F28A4C"/>
                </a:solidFill>
                <a:latin typeface="Calibri"/>
              </a:rPr>
              <a:t>A building that runs itself.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250" b="0">
                <a:solidFill>
                  <a:srgbClr val="F4F7FA"/>
                </a:solidFill>
                <a:latin typeface="Calibri"/>
              </a:rPr>
              <a:t>EnergyPlus supplies the physics, a local open-source LLM supplies the judgement, and the Model Context Protocol carries every reading and every command between them — while the simulation is still running.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57416" y="3099815"/>
            <a:ext cx="477316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2600" b="1">
                <a:solidFill>
                  <a:srgbClr val="F28A4C"/>
                </a:solidFill>
                <a:latin typeface="Calibri"/>
              </a:rPr>
              <a:t>−8.5%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>
                <a:solidFill>
                  <a:srgbClr val="A8BACE"/>
                </a:solidFill>
                <a:latin typeface="Calibri"/>
              </a:rPr>
              <a:t>HVAC energy, summer 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57416" y="4187952"/>
            <a:ext cx="477316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2600" b="1">
                <a:solidFill>
                  <a:srgbClr val="3FC18B"/>
                </a:solidFill>
                <a:latin typeface="Calibri"/>
              </a:rPr>
              <a:t>336 / 336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>
                <a:solidFill>
                  <a:srgbClr val="A8BACE"/>
                </a:solidFill>
                <a:latin typeface="Calibri"/>
              </a:rPr>
              <a:t>agent turns — zero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7416" y="5276088"/>
            <a:ext cx="477316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2600" b="1">
                <a:solidFill>
                  <a:srgbClr val="F4F7FA"/>
                </a:solidFill>
                <a:latin typeface="Calibri"/>
              </a:rPr>
              <a:t>100%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>
                <a:solidFill>
                  <a:srgbClr val="A8BACE"/>
                </a:solidFill>
                <a:latin typeface="Calibri"/>
              </a:rPr>
              <a:t>open source, runs on a laptop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709160"/>
            <a:ext cx="5577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050" b="0">
                <a:solidFill>
                  <a:srgbClr val="A8BACE"/>
                </a:solidFill>
                <a:latin typeface="Calibri"/>
              </a:rPr>
              <a:t>EnergyPlus 26.1 · pyenergyplus · FastMCP · Model Context Protocol · Ollama + Llama 3.2 3B · Pydantic · Streamlit</a:t>
            </a:r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8" name="Rounded Rectangle 15367"/>
          <p:cNvSpPr/>
          <p:nvPr/>
        </p:nvSpPr>
        <p:spPr>
          <a:xfrm>
            <a:off x="6309360" y="4700016"/>
            <a:ext cx="5532120" cy="1481328"/>
          </a:xfrm>
          <a:prstGeom prst="roundRect">
            <a:avLst>
              <a:gd name="adj" fmla="val 35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6" name="Rounded Rectangle 15365"/>
          <p:cNvSpPr/>
          <p:nvPr/>
        </p:nvSpPr>
        <p:spPr>
          <a:xfrm>
            <a:off x="6309360" y="3163824"/>
            <a:ext cx="5532120" cy="1389888"/>
          </a:xfrm>
          <a:prstGeom prst="roundRect">
            <a:avLst>
              <a:gd name="adj" fmla="val 3500"/>
            </a:avLst>
          </a:prstGeom>
          <a:solidFill>
            <a:srgbClr val="E9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4" name="Rounded Rectangle 15363"/>
          <p:cNvSpPr/>
          <p:nvPr/>
        </p:nvSpPr>
        <p:spPr>
          <a:xfrm>
            <a:off x="384048" y="1152144"/>
            <a:ext cx="5760720" cy="4041648"/>
          </a:xfrm>
          <a:prstGeom prst="roundRect">
            <a:avLst>
              <a:gd name="adj" fmla="val 35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400" b="1" dirty="0" i="0">
                <a:solidFill>
                  <a:srgbClr val="0E1A2B"/>
                </a:solidFill>
                <a:latin typeface="Cambria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932688" y="1188720"/>
            <a:ext cx="5029200" cy="493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450" b="1">
                <a:solidFill>
                  <a:srgbClr val="D9541F"/>
                </a:solidFill>
                <a:latin typeface="Calibri"/>
              </a:rPr>
              <a:t>Proposed Solution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 algn="l" marL="0" indent="0">
              <a:spcAft>
                <a:spcPts val="500"/>
              </a:spcAft>
              <a:buNone/>
            </a:pPr>
            <a:r>
              <a:rPr sz="1150" b="0">
                <a:solidFill>
                  <a:srgbClr val="121B2B"/>
                </a:solidFill>
                <a:latin typeface="Calibri"/>
              </a:rPr>
              <a:t>Traditional BMS follow rigid clock schedules. Eco-Loop turns the building into a self-correcting agent.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50" b="1">
                <a:solidFill>
                  <a:srgbClr val="D9541F"/>
                </a:solidFill>
                <a:latin typeface="Calibri"/>
              </a:rPr>
              <a:t>Detailed explanation</a:t>
            </a:r>
          </a:p>
          <a:p>
            <a:pPr algn="l" marL="165100" indent="-165100">
              <a:spcAft>
                <a:spcPts val="5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EnergyPlus runs inside the Python process; sensors read every zone timestep</a:t>
            </a:r>
          </a:p>
          <a:p>
            <a:pPr algn="l" marL="165100" indent="-165100">
              <a:spcAft>
                <a:spcPts val="5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Every 60 simulated minutes the aggregated state goes to a local LLM through six MCP tools</a:t>
            </a:r>
          </a:p>
          <a:p>
            <a:pPr algn="l" marL="165100" indent="-165100">
              <a:spcAft>
                <a:spcPts val="5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The model reasons over comfort, demand and grid carbon, then returns setpoints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50" b="1">
                <a:solidFill>
                  <a:srgbClr val="D9541F"/>
                </a:solidFill>
                <a:latin typeface="Calibri"/>
              </a:rPr>
              <a:t>How it addresses the problem</a:t>
            </a:r>
          </a:p>
          <a:p>
            <a:pPr algn="l" marL="165100" indent="-165100">
              <a:spcAft>
                <a:spcPts val="5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Control adapts continuously to weather, occupancy and carbon intensity instead of a fixed schedule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50" b="1">
                <a:solidFill>
                  <a:srgbClr val="D9541F"/>
                </a:solidFill>
                <a:latin typeface="Calibri"/>
              </a:rPr>
              <a:t>Innovation and uniqueness</a:t>
            </a:r>
          </a:p>
          <a:p>
            <a:pPr algn="l" marL="165100" indent="-165100">
              <a:spcAft>
                <a:spcPts val="5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Setpoints are injected into the LIVE solver via the actuator API — no IDF rewrite, no restart, so the loop closes inside one simulation</a:t>
            </a:r>
          </a:p>
          <a:p>
            <a:pPr algn="l" marL="165100" indent="-165100">
              <a:spcAft>
                <a:spcPts val="5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MCP is the safety boundary: every command is validated server-side before it can reach an actuator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sz="1000">
                <a:solidFill>
                  <a:srgbClr val="4A5768"/>
                </a:solidFill>
                <a:latin typeface="Calibri"/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5363" name="Oval 15362"/>
          <p:cNvSpPr/>
          <p:nvPr/>
        </p:nvSpPr>
        <p:spPr>
          <a:xfrm>
            <a:off x="420624" y="1188720"/>
            <a:ext cx="384048" cy="384048"/>
          </a:xfrm>
          <a:prstGeom prst="ellipse">
            <a:avLst/>
          </a:prstGeom>
          <a:solidFill>
            <a:srgbClr val="D95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pic>
        <p:nvPicPr>
          <p:cNvPr id="15365" name="Picture 15364" descr="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80160"/>
            <a:ext cx="5486400" cy="1858297"/>
          </a:xfrm>
          <a:prstGeom prst="rect">
            <a:avLst/>
          </a:prstGeom>
        </p:spPr>
      </p:pic>
      <p:sp>
        <p:nvSpPr>
          <p:cNvPr id="15367" name="TextBox 15366"/>
          <p:cNvSpPr txBox="1"/>
          <p:nvPr/>
        </p:nvSpPr>
        <p:spPr>
          <a:xfrm>
            <a:off x="6528816" y="3273552"/>
            <a:ext cx="5102352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50" b="1">
                <a:solidFill>
                  <a:srgbClr val="0D7A4F"/>
                </a:solidFill>
                <a:latin typeface="Calibri"/>
              </a:rPr>
              <a:t>Measured, not projected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150" b="0">
                <a:solidFill>
                  <a:srgbClr val="121B2B"/>
                </a:solidFill>
                <a:latin typeface="Calibri"/>
              </a:rPr>
              <a:t>8.5% less HVAC energy across a summer week, while holding occupants closer to thermal neutrality than the baseline (mean PMV −0.43 → −0.02).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6528816" y="4809744"/>
            <a:ext cx="510235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50" b="1">
                <a:solidFill>
                  <a:srgbClr val="D9541F"/>
                </a:solidFill>
                <a:latin typeface="Calibri"/>
              </a:rPr>
              <a:t>Why it is different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150" b="0">
                <a:solidFill>
                  <a:srgbClr val="121B2B"/>
                </a:solidFill>
                <a:latin typeface="Calibri"/>
              </a:rPr>
              <a:t>Most LLM-and-simulation work rewrites the model file and re-runs it — that can only compare finished runs. It cannot react to a zone drifting out of comfort at 14:00 on day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2" name="Rounded Rectangle 17411"/>
          <p:cNvSpPr/>
          <p:nvPr/>
        </p:nvSpPr>
        <p:spPr>
          <a:xfrm>
            <a:off x="384048" y="1060704"/>
            <a:ext cx="11430000" cy="1298448"/>
          </a:xfrm>
          <a:prstGeom prst="roundRect">
            <a:avLst>
              <a:gd name="adj" fmla="val 35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400" b="1" dirty="0" i="0">
                <a:solidFill>
                  <a:srgbClr val="0E1A2B"/>
                </a:solidFill>
                <a:latin typeface="Cambria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932688" y="1133856"/>
            <a:ext cx="10607040" cy="11887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 algn="l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sz="1150" b="0">
                <a:solidFill>
                  <a:srgbClr val="121B2B"/>
                </a:solidFill>
                <a:latin typeface="Calibri"/>
              </a:rPr>
              <a:t>Technologies    EnergyPlus 26.1 (pyenergyplus C API) · Python · FastMCP over streamable HTTP · Ollama running Llama 3.2 3B · Pydantic validation · Streamlit + Plotly dashboard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150" b="0">
                <a:solidFill>
                  <a:srgbClr val="121B2B"/>
                </a:solidFill>
                <a:latin typeface="Calibri"/>
              </a:rPr>
              <a:t>Methodology    sample every timestep → aggregate per control interval → LLM tool-calling turn → validate → inject into live actuators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4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sz="1000">
                <a:solidFill>
                  <a:srgbClr val="4A5768"/>
                </a:solidFill>
                <a:latin typeface="Calibri"/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411" name="Oval 17410"/>
          <p:cNvSpPr/>
          <p:nvPr/>
        </p:nvSpPr>
        <p:spPr>
          <a:xfrm>
            <a:off x="420624" y="1097280"/>
            <a:ext cx="384048" cy="384048"/>
          </a:xfrm>
          <a:prstGeom prst="ellipse">
            <a:avLst/>
          </a:prstGeom>
          <a:solidFill>
            <a:srgbClr val="D95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pic>
        <p:nvPicPr>
          <p:cNvPr id="17413" name="Picture 17412" descr="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596896"/>
            <a:ext cx="10881360" cy="403224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21" name="Rounded Rectangle 17420"/>
          <p:cNvSpPr/>
          <p:nvPr/>
        </p:nvSpPr>
        <p:spPr>
          <a:xfrm>
            <a:off x="384048" y="5029200"/>
            <a:ext cx="11420856" cy="1170432"/>
          </a:xfrm>
          <a:prstGeom prst="roundRect">
            <a:avLst>
              <a:gd name="adj" fmla="val 3500"/>
            </a:avLst>
          </a:prstGeom>
          <a:solidFill>
            <a:srgbClr val="E9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Rounded Rectangle 17418"/>
          <p:cNvSpPr/>
          <p:nvPr/>
        </p:nvSpPr>
        <p:spPr>
          <a:xfrm>
            <a:off x="6172200" y="2487168"/>
            <a:ext cx="5632704" cy="2395728"/>
          </a:xfrm>
          <a:prstGeom prst="roundRect">
            <a:avLst>
              <a:gd name="adj" fmla="val 3500"/>
            </a:avLst>
          </a:prstGeom>
          <a:solidFill>
            <a:srgbClr val="E9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Rounded Rectangle 17417"/>
          <p:cNvSpPr/>
          <p:nvPr/>
        </p:nvSpPr>
        <p:spPr>
          <a:xfrm>
            <a:off x="384048" y="2487168"/>
            <a:ext cx="5669280" cy="2395728"/>
          </a:xfrm>
          <a:prstGeom prst="roundRect">
            <a:avLst>
              <a:gd name="adj" fmla="val 35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Rounded Rectangle 17415"/>
          <p:cNvSpPr/>
          <p:nvPr/>
        </p:nvSpPr>
        <p:spPr>
          <a:xfrm>
            <a:off x="8247888" y="1005840"/>
            <a:ext cx="3456432" cy="1133856"/>
          </a:xfrm>
          <a:prstGeom prst="roundRect">
            <a:avLst>
              <a:gd name="adj" fmla="val 35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Rounded Rectangle 17413"/>
          <p:cNvSpPr/>
          <p:nvPr/>
        </p:nvSpPr>
        <p:spPr>
          <a:xfrm>
            <a:off x="4590288" y="1005840"/>
            <a:ext cx="3456432" cy="1133856"/>
          </a:xfrm>
          <a:prstGeom prst="roundRect">
            <a:avLst>
              <a:gd name="adj" fmla="val 35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ounded Rectangle 17411"/>
          <p:cNvSpPr/>
          <p:nvPr/>
        </p:nvSpPr>
        <p:spPr>
          <a:xfrm>
            <a:off x="932688" y="1005840"/>
            <a:ext cx="3456432" cy="1133856"/>
          </a:xfrm>
          <a:prstGeom prst="roundRect">
            <a:avLst>
              <a:gd name="adj" fmla="val 35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400" b="1" dirty="0" i="0">
                <a:solidFill>
                  <a:srgbClr val="0E1A2B"/>
                </a:solidFill>
                <a:latin typeface="Cambria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58368" y="2596896"/>
            <a:ext cx="5120640" cy="34747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400" b="1">
                <a:solidFill>
                  <a:srgbClr val="D9541F"/>
                </a:solidFill>
                <a:latin typeface="Calibri"/>
              </a:rPr>
              <a:t>Feasibility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Runs end to end on one consumer laptop — 4 GB VRAM, no cloud, no API cost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Fully open source: EnergyPlus, Llama 3.2, FastMCP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400" b="1">
                <a:solidFill>
                  <a:srgbClr val="D9541F"/>
                </a:solidFill>
                <a:latin typeface="Calibri"/>
              </a:rPr>
              <a:t>Potential challenges and risks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LLM latency inside a blocking simulation callback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A small model can move the wrong setpoint, or run heating and cooling against each other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One setpoint pair cannot satisfy five differently-loaded zones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4A576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7411" name="Oval 17410"/>
          <p:cNvSpPr/>
          <p:nvPr/>
        </p:nvSpPr>
        <p:spPr>
          <a:xfrm>
            <a:off x="420624" y="1042415"/>
            <a:ext cx="384048" cy="384048"/>
          </a:xfrm>
          <a:prstGeom prst="ellipse">
            <a:avLst/>
          </a:prstGeom>
          <a:solidFill>
            <a:srgbClr val="D95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1152144" y="1106424"/>
            <a:ext cx="30175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2600" b="1">
                <a:solidFill>
                  <a:srgbClr val="0D7A4F"/>
                </a:solidFill>
                <a:latin typeface="Calibri"/>
              </a:rPr>
              <a:t>336 / 336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>
                <a:solidFill>
                  <a:srgbClr val="4A5768"/>
                </a:solidFill>
                <a:latin typeface="Calibri"/>
              </a:rPr>
              <a:t>agent turns — 0 fallbacks, 0 timeouts, 0 actuation errors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809744" y="1106424"/>
            <a:ext cx="30175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2600" b="1">
                <a:solidFill>
                  <a:srgbClr val="D9541F"/>
                </a:solidFill>
                <a:latin typeface="Calibri"/>
              </a:rPr>
              <a:t>−8.5%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>
                <a:solidFill>
                  <a:srgbClr val="4A5768"/>
                </a:solidFill>
                <a:latin typeface="Calibri"/>
              </a:rPr>
              <a:t>HVAC energy, summer week (−3.7% winter)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8467344" y="1106424"/>
            <a:ext cx="30175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2600" b="1">
                <a:solidFill>
                  <a:srgbClr val="0E1A2B"/>
                </a:solidFill>
                <a:latin typeface="Calibri"/>
              </a:rPr>
              <a:t>2.1 s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>
                <a:solidFill>
                  <a:srgbClr val="4A5768"/>
                </a:solidFill>
                <a:latin typeface="Calibri"/>
              </a:rPr>
              <a:t>median agent decision latency, on-device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446520" y="2596896"/>
            <a:ext cx="5084064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600"/>
              </a:spcAft>
              <a:buNone/>
            </a:pPr>
            <a:r>
              <a:rPr sz="1400" b="1">
                <a:solidFill>
                  <a:srgbClr val="0D7A4F"/>
                </a:solidFill>
                <a:latin typeface="Calibri"/>
              </a:rPr>
              <a:t>Strategies for overcoming them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Interval batching + a hard per-turn deadline; on timeout the loop holds the last accepted command rather than stalling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Observations state the required direction, so the model cannot invert the physics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Seasonal changeover parks the idle mode's setpoint — heating and cooling can never fight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121B2B"/>
                </a:solidFill>
                <a:latin typeface="Calibri"/>
              </a:rPr>
              <a:t>A per-zone proportional trim corrects each zone from its own PMV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58368" y="5138928"/>
            <a:ext cx="108813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400" b="1">
                <a:solidFill>
                  <a:srgbClr val="0D7A4F"/>
                </a:solidFill>
                <a:latin typeface="Calibri"/>
              </a:rPr>
              <a:t>Viability at scale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150" b="0">
                <a:solidFill>
                  <a:srgbClr val="121B2B"/>
                </a:solidFill>
                <a:latin typeface="Calibri"/>
              </a:rPr>
              <a:t>Buildings consume roughly 40% of global energy, so a single-digit HVAC reduction is material at portfolio scale. The loop is model-agnostic — any EnergyPlus model with a thermostat works — and swapping the cognitive engine for a larger local or hosted model needs no change to the MCP tool layer.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B09052-50AE-B3C2-6A1C-5CFF37D9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2" name="Rounded Rectangle 17411"/>
          <p:cNvSpPr/>
          <p:nvPr/>
        </p:nvSpPr>
        <p:spPr>
          <a:xfrm>
            <a:off x="384048" y="987552"/>
            <a:ext cx="11430000" cy="1188720"/>
          </a:xfrm>
          <a:prstGeom prst="roundRect">
            <a:avLst>
              <a:gd name="adj" fmla="val 35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09" name="Title 1">
            <a:extLst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400" b="1" dirty="0" i="0">
                <a:solidFill>
                  <a:srgbClr val="0E1A2B"/>
                </a:solidFill>
                <a:latin typeface="Cambria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ARTIFACTS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DD0C6F84-D6ED-416D-7179-055149D83F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2688" y="1060704"/>
            <a:ext cx="10607040" cy="10607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5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250" b="1">
                <a:solidFill>
                  <a:srgbClr val="D9541F"/>
                </a:solidFill>
                <a:latin typeface="Calibri"/>
              </a:rPr>
              <a:t>Code   github.com/ayushYadav1107/Eco_loop_building_agents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150" b="0">
                <a:solidFill>
                  <a:srgbClr val="121B2B"/>
                </a:solidFill>
                <a:latin typeface="Calibri"/>
              </a:rPr>
              <a:t>Baseline and runtime-generated .idf models, the full agent decision trail (agent_decisions.jsonl), per-timestep EnergyPlus results and the savings dashboard are all committed — a fresh clone reproduces these figures.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4C6332B-BBD9-799D-50C5-6A19BC85E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4A576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7411" name="Oval 17410"/>
          <p:cNvSpPr/>
          <p:nvPr/>
        </p:nvSpPr>
        <p:spPr>
          <a:xfrm>
            <a:off x="420624" y="1024128"/>
            <a:ext cx="384048" cy="384048"/>
          </a:xfrm>
          <a:prstGeom prst="ellipse">
            <a:avLst/>
          </a:prstGeom>
          <a:solidFill>
            <a:srgbClr val="D95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pic>
        <p:nvPicPr>
          <p:cNvPr id="17413" name="Picture 17412" descr="decis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10881360" cy="4032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4" name="Rounded Rectangle 17413"/>
          <p:cNvSpPr/>
          <p:nvPr/>
        </p:nvSpPr>
        <p:spPr>
          <a:xfrm>
            <a:off x="6309360" y="3127248"/>
            <a:ext cx="5486400" cy="1581912"/>
          </a:xfrm>
          <a:prstGeom prst="roundRect">
            <a:avLst>
              <a:gd name="adj" fmla="val 3500"/>
            </a:avLst>
          </a:prstGeom>
          <a:solidFill>
            <a:srgbClr val="1B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ounded Rectangle 17411"/>
          <p:cNvSpPr/>
          <p:nvPr/>
        </p:nvSpPr>
        <p:spPr>
          <a:xfrm>
            <a:off x="6309360" y="1097280"/>
            <a:ext cx="5486400" cy="1847088"/>
          </a:xfrm>
          <a:prstGeom prst="roundRect">
            <a:avLst>
              <a:gd name="adj" fmla="val 3500"/>
            </a:avLst>
          </a:prstGeom>
          <a:solidFill>
            <a:srgbClr val="1B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Rounded Rectangle 17410"/>
          <p:cNvSpPr/>
          <p:nvPr/>
        </p:nvSpPr>
        <p:spPr>
          <a:xfrm>
            <a:off x="384048" y="1097280"/>
            <a:ext cx="5760720" cy="3611880"/>
          </a:xfrm>
          <a:prstGeom prst="roundRect">
            <a:avLst>
              <a:gd name="adj" fmla="val 3500"/>
            </a:avLst>
          </a:prstGeom>
          <a:solidFill>
            <a:srgbClr val="1B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400" b="1" dirty="0" i="0">
                <a:solidFill>
                  <a:srgbClr val="F4F7FA"/>
                </a:solidFill>
                <a:latin typeface="Cambria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76656" y="1243584"/>
            <a:ext cx="5175504" cy="4663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300" b="1">
                <a:solidFill>
                  <a:srgbClr val="F28A4C"/>
                </a:solidFill>
                <a:latin typeface="Calibri"/>
              </a:rPr>
              <a:t>Simulation and building physics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F4F7FA"/>
                </a:solidFill>
                <a:latin typeface="Calibri"/>
              </a:rPr>
              <a:t>EnergyPlus Engineering Reference and EMS Application Guide — energyplus.net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F4F7FA"/>
                </a:solidFill>
                <a:latin typeface="Calibri"/>
              </a:rPr>
              <a:t>pyenergyplus Data Exchange API — get_variable_handle, set_actuator_value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F4F7FA"/>
                </a:solidFill>
                <a:latin typeface="Calibri"/>
              </a:rPr>
              <a:t>ISO 7730:2005 and ASHRAE Standard 55 — PMV/PPD thermal comfort model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300" b="1">
                <a:solidFill>
                  <a:srgbClr val="F28A4C"/>
                </a:solidFill>
                <a:latin typeface="Calibri"/>
              </a:rPr>
              <a:t>Agent, protocol and inference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F4F7FA"/>
                </a:solidFill>
                <a:latin typeface="Calibri"/>
              </a:rPr>
              <a:t>Model Context Protocol specification — modelcontextprotocol.io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F4F7FA"/>
                </a:solidFill>
                <a:latin typeface="Calibri"/>
              </a:rPr>
              <a:t>FastMCP — gofastmcp.com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F4F7FA"/>
                </a:solidFill>
                <a:latin typeface="Calibri"/>
              </a:rPr>
              <a:t>Meta Llama 3.2 served locally through Ollama — ollama.com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300" b="1">
                <a:solidFill>
                  <a:srgbClr val="F28A4C"/>
                </a:solidFill>
                <a:latin typeface="Calibri"/>
              </a:rPr>
              <a:t>Project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•"/>
            </a:pPr>
            <a:r>
              <a:rPr sz="1100" b="0">
                <a:solidFill>
                  <a:srgbClr val="F4F7FA"/>
                </a:solidFill>
                <a:latin typeface="Calibri"/>
              </a:rPr>
              <a:t>Repository, architecture document and reproducible results — github.com/ayushYadav1107/Eco_loop_building_agents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A8BAC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7413" name="TextBox 17412"/>
          <p:cNvSpPr txBox="1"/>
          <p:nvPr/>
        </p:nvSpPr>
        <p:spPr>
          <a:xfrm>
            <a:off x="6565392" y="1243584"/>
            <a:ext cx="4974336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1">
                <a:solidFill>
                  <a:srgbClr val="F28A4C"/>
                </a:solidFill>
                <a:latin typeface="Calibri"/>
              </a:rPr>
              <a:t>Reproduce the result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050" b="1">
                <a:solidFill>
                  <a:srgbClr val="F4F7FA"/>
                </a:solidFill>
                <a:latin typeface="Calibri"/>
              </a:rPr>
              <a:t>python main.py prepare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050" b="1">
                <a:solidFill>
                  <a:srgbClr val="F4F7FA"/>
                </a:solidFill>
                <a:latin typeface="Calibri"/>
              </a:rPr>
              <a:t>python main.py run-baseline --start 07-15 --end 07-21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050" b="1">
                <a:solidFill>
                  <a:srgbClr val="F4F7FA"/>
                </a:solidFill>
                <a:latin typeface="Calibri"/>
              </a:rPr>
              <a:t>python main.py run-ai --start 07-15 --end 07-21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050" b="1">
                <a:solidFill>
                  <a:srgbClr val="F4F7FA"/>
                </a:solidFill>
                <a:latin typeface="Calibri"/>
              </a:rPr>
              <a:t>python main.py dashboard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050" b="0">
                <a:solidFill>
                  <a:srgbClr val="A8BACE"/>
                </a:solidFill>
                <a:latin typeface="Calibri"/>
              </a:rPr>
              <a:t>Temperature 0, so repeated runs return identical totals — the comparison is auditable rather than anecdotal.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565392" y="3255264"/>
            <a:ext cx="497433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1">
                <a:solidFill>
                  <a:srgbClr val="F28A4C"/>
                </a:solidFill>
                <a:latin typeface="Calibri"/>
              </a:rPr>
              <a:t>Honest limitation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100" b="0">
                <a:solidFill>
                  <a:srgbClr val="F4F7FA"/>
                </a:solidFill>
                <a:latin typeface="Calibri"/>
              </a:rPr>
              <a:t>One setpoint pair drives five differently-loaded zones. Per zone the agent holds 85–96% of occupied time inside the PMV band; the stricter worst-zone metric is lower.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100" b="0">
                <a:solidFill>
                  <a:srgbClr val="A8BACE"/>
                </a:solidFill>
                <a:latin typeface="Calibri"/>
              </a:rPr>
              <a:t>Per-zone setpoints are the next step — the actuator handles and per-zone PMV are already in place.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7668</TotalTime>
  <Words>320</Words>
  <Application>Microsoft Office PowerPoint</Application>
  <PresentationFormat>Widescreen</PresentationFormat>
  <Paragraphs>60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ＭＳ Ｐゴシック</vt:lpstr>
      <vt:lpstr>Arial</vt:lpstr>
      <vt:lpstr>Calibri</vt:lpstr>
      <vt:lpstr>Times New Roman</vt:lpstr>
      <vt:lpstr>TradeGothic</vt:lpstr>
      <vt:lpstr>Office Theme</vt:lpstr>
      <vt:lpstr>PowerPoint Presentation</vt:lpstr>
      <vt:lpstr>PowerPoint Presentation</vt:lpstr>
      <vt:lpstr> IDEA TITLE</vt:lpstr>
      <vt:lpstr>TECHNICAL APPROACH</vt:lpstr>
      <vt:lpstr>FEASIBILITY AND VIABILITY</vt:lpstr>
      <vt:lpstr>ARTIFACTS</vt:lpstr>
      <vt:lpstr>RESEARCH  AND REFERENCES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Template</dc:title>
  <dc:subject/>
  <cp:keywords/>
  <dc:description/>
  <cp:lastModifiedBy>Ramesh MV (HirePro)</cp:lastModifiedBy>
  <cp:revision>153</cp:revision>
  <dcterms:created xsi:type="dcterms:W3CDTF">2013-12-12T18:46:50Z</dcterms:created>
  <dcterms:modified xsi:type="dcterms:W3CDTF">2026-07-24T16:33:04Z</dcterms:modified>
  <cp:category/>
</cp:coreProperties>
</file>