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/>
          <p:cNvSpPr/>
          <p:nvPr/>
        </p:nvSpPr>
        <p:spPr>
          <a:xfrm>
            <a:off x="6446520" y="4389120"/>
            <a:ext cx="5358384" cy="1005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9198864" y="2944368"/>
            <a:ext cx="2606040" cy="1280160"/>
          </a:xfrm>
          <a:prstGeom prst="roundRect">
            <a:avLst>
              <a:gd name="adj" fmla="val 3000"/>
            </a:avLst>
          </a:prstGeom>
          <a:solidFill>
            <a:srgbClr val="EFF4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46520" y="2944368"/>
            <a:ext cx="2606040" cy="1280160"/>
          </a:xfrm>
          <a:prstGeom prst="roundRect">
            <a:avLst>
              <a:gd name="adj" fmla="val 3000"/>
            </a:avLst>
          </a:prstGeom>
          <a:solidFill>
            <a:srgbClr val="ECFDF3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84048" y="1115568"/>
            <a:ext cx="5806440" cy="3017520"/>
          </a:xfrm>
          <a:prstGeom prst="roundRect">
            <a:avLst>
              <a:gd name="adj" fmla="val 3000"/>
            </a:avLst>
          </a:prstGeom>
          <a:solidFill>
            <a:srgbClr val="EF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 sz="3400" i="0">
                <a:solidFill>
                  <a:srgbClr val="1E3A8A"/>
                </a:solidFill>
                <a:latin typeface="Segoe UI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658368" y="1280160"/>
            <a:ext cx="5303520" cy="2743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marL="0" indent="0">
              <a:spcAft>
                <a:spcPts val="900"/>
              </a:spcAft>
              <a:buNone/>
            </a:pPr>
            <a:r>
              <a:rPr sz="1300" b="1">
                <a:solidFill>
                  <a:srgbClr val="EA580C"/>
                </a:solidFill>
                <a:latin typeface="Calibri"/>
              </a:rPr>
              <a:t>Problem Statement ID   &lt;&lt;FILL IN&gt;&gt;</a:t>
            </a:r>
            <a:endParaRPr lang="en-US" dirty="0"/>
          </a:p>
          <a:p>
            <a:pPr algn="l" marL="0" indent="0">
              <a:spcAft>
                <a:spcPts val="900"/>
              </a:spcAft>
              <a:buNone/>
            </a:pPr>
            <a:r>
              <a:rPr sz="1300" b="0">
                <a:solidFill>
                  <a:srgbClr val="1E293B"/>
                </a:solidFill>
                <a:latin typeface="Calibri"/>
              </a:rPr>
              <a:t>Problem Statement Title   Eco-Loop Building Agents — autonomous closed-loop HVAC control using EnergyPlus, MCP and a local open-source LLM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300" b="0">
                <a:solidFill>
                  <a:srgbClr val="1E293B"/>
                </a:solidFill>
                <a:latin typeface="Calibri"/>
              </a:rPr>
              <a:t>Theme   &lt;&lt;FILL IN&gt;&gt;      ·      PS Category   Software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300" b="0">
                <a:solidFill>
                  <a:srgbClr val="1E293B"/>
                </a:solidFill>
                <a:latin typeface="Calibri"/>
              </a:rPr>
              <a:t>Student   Ayush Yadav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300" b="0">
                <a:solidFill>
                  <a:srgbClr val="1E293B"/>
                </a:solidFill>
                <a:latin typeface="Calibri"/>
              </a:rPr>
              <a:t>Student ID   &lt;&lt;FILL IN&gt;&gt;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6382512"/>
            <a:ext cx="11430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75569"/>
                </a:solidFill>
                <a:latin typeface="Calibri"/>
              </a:rPr>
              <a:t>Echo-Loop[source: 1]@SIH Idea submission- Template1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133856"/>
            <a:ext cx="5349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900"/>
              </a:spcAft>
              <a:buNone/>
            </a:pPr>
            <a:r>
              <a:rPr sz="2000" b="1">
                <a:solidFill>
                  <a:srgbClr val="1E3A8A"/>
                </a:solidFill>
                <a:latin typeface="Segoe UI"/>
              </a:rPr>
              <a:t>A BUILDING THAT RUNS ITSELF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250" b="0">
                <a:solidFill>
                  <a:srgbClr val="1E293B"/>
                </a:solidFill>
                <a:latin typeface="Calibri"/>
              </a:rPr>
              <a:t>EnergyPlus supplies the physics. A local open-source LLM supplies the judgement. The Model Context Protocol carries every reading and every command between them — while the simulation is still running.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4264" y="3063240"/>
            <a:ext cx="21305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3200" b="1">
                <a:solidFill>
                  <a:srgbClr val="16A34A"/>
                </a:solidFill>
                <a:latin typeface="Segoe UI"/>
              </a:rPr>
              <a:t>−8.5%</a:t>
            </a:r>
          </a:p>
          <a:p>
            <a:pPr algn="l" marL="0" indent="0">
              <a:buNone/>
            </a:pPr>
            <a:r>
              <a:rPr sz="1100">
                <a:solidFill>
                  <a:srgbClr val="475569"/>
                </a:solidFill>
                <a:latin typeface="Calibri"/>
              </a:rPr>
              <a:t>HVAC energy
summer 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6608" y="3063240"/>
            <a:ext cx="21305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2800" b="1">
                <a:solidFill>
                  <a:srgbClr val="2563EB"/>
                </a:solidFill>
                <a:latin typeface="Segoe UI"/>
              </a:rPr>
              <a:t>336/336</a:t>
            </a:r>
          </a:p>
          <a:p>
            <a:pPr algn="l" marL="0" indent="0">
              <a:buNone/>
            </a:pPr>
            <a:r>
              <a:rPr sz="1100">
                <a:solidFill>
                  <a:srgbClr val="475569"/>
                </a:solidFill>
                <a:latin typeface="Calibri"/>
              </a:rPr>
              <a:t>agent turns
zero failures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4264" y="4507992"/>
            <a:ext cx="48828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2100" b="1">
                <a:solidFill>
                  <a:srgbClr val="1E3A8A"/>
                </a:solidFill>
                <a:latin typeface="Segoe UI"/>
              </a:rPr>
              <a:t>100% open source</a:t>
            </a:r>
          </a:p>
          <a:p>
            <a:pPr algn="l" marL="0" indent="0">
              <a:buNone/>
            </a:pPr>
            <a:r>
              <a:rPr sz="1100">
                <a:solidFill>
                  <a:srgbClr val="475569"/>
                </a:solidFill>
                <a:latin typeface="Calibri"/>
              </a:rPr>
              <a:t>One laptop — no cloud, no API keys, no per-query 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315968"/>
            <a:ext cx="5577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100" b="1">
                <a:solidFill>
                  <a:srgbClr val="1E3A8A"/>
                </a:solidFill>
                <a:latin typeface="Segoe UI"/>
              </a:rPr>
              <a:t>TECH STACK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100" b="0">
                <a:solidFill>
                  <a:srgbClr val="475569"/>
                </a:solidFill>
                <a:latin typeface="Calibri"/>
              </a:rPr>
              <a:t>EnergyPlus 26.1 · pyenergyplus · FastMCP · Model Context Protocol · Ollama + Llama 3.2 3B · Pydantic · Streamlit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9" name="Rounded Rectangle 15368"/>
          <p:cNvSpPr/>
          <p:nvPr/>
        </p:nvSpPr>
        <p:spPr>
          <a:xfrm>
            <a:off x="6309360" y="4462272"/>
            <a:ext cx="5568696" cy="1627632"/>
          </a:xfrm>
          <a:prstGeom prst="roundRect">
            <a:avLst>
              <a:gd name="adj" fmla="val 3000"/>
            </a:avLst>
          </a:prstGeom>
          <a:solidFill>
            <a:srgbClr val="EF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7" name="Rounded Rectangle 15366"/>
          <p:cNvSpPr/>
          <p:nvPr/>
        </p:nvSpPr>
        <p:spPr>
          <a:xfrm>
            <a:off x="6309360" y="2944368"/>
            <a:ext cx="5568696" cy="1371600"/>
          </a:xfrm>
          <a:prstGeom prst="roundRect">
            <a:avLst>
              <a:gd name="adj" fmla="val 3000"/>
            </a:avLst>
          </a:prstGeom>
          <a:solidFill>
            <a:srgbClr val="ECFDF3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4" name="Rounded Rectangle 15363"/>
          <p:cNvSpPr/>
          <p:nvPr/>
        </p:nvSpPr>
        <p:spPr>
          <a:xfrm>
            <a:off x="384048" y="1060704"/>
            <a:ext cx="576072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400" b="1" dirty="0" i="0">
                <a:solidFill>
                  <a:srgbClr val="1E3A8A"/>
                </a:solidFill>
                <a:latin typeface="Segoe UI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115568" y="1170432"/>
            <a:ext cx="4864608" cy="484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sz="1300" b="1">
                <a:solidFill>
                  <a:srgbClr val="1E3A8A"/>
                </a:solidFill>
                <a:latin typeface="Segoe UI"/>
              </a:rPr>
              <a:t>PROPOSED SOLUTION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algn="l" marL="0" indent="0">
              <a:spcAft>
                <a:spcPts val="600"/>
              </a:spcAft>
              <a:buNone/>
            </a:pPr>
            <a:r>
              <a:rPr sz="1200" b="0">
                <a:solidFill>
                  <a:srgbClr val="1E293B"/>
                </a:solidFill>
                <a:latin typeface="Calibri"/>
              </a:rPr>
              <a:t>Traditional BMS follow rigid clock schedules. Eco-Loop turns the building into a self-correcting agent.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300" b="1">
                <a:solidFill>
                  <a:srgbClr val="1E3A8A"/>
                </a:solidFill>
                <a:latin typeface="Segoe UI"/>
              </a:rPr>
              <a:t>HOW IT WORKS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▪"/>
            </a:pPr>
            <a:r>
              <a:rPr sz="1150" b="0">
                <a:solidFill>
                  <a:srgbClr val="1E293B"/>
                </a:solidFill>
                <a:latin typeface="Calibri"/>
              </a:rPr>
              <a:t>EnergyPlus runs in-process; sensors read every zone timestep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▪"/>
            </a:pPr>
            <a:r>
              <a:rPr sz="1150" b="0">
                <a:solidFill>
                  <a:srgbClr val="1E293B"/>
                </a:solidFill>
                <a:latin typeface="Calibri"/>
              </a:rPr>
              <a:t>Every 60 simulated minutes the state reaches a local LLM via six MCP tools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▪"/>
            </a:pPr>
            <a:r>
              <a:rPr sz="1150" b="0">
                <a:solidFill>
                  <a:srgbClr val="1E293B"/>
                </a:solidFill>
                <a:latin typeface="Calibri"/>
              </a:rPr>
              <a:t>The model weighs comfort, demand and grid carbon, then returns setpoints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300" b="1">
                <a:solidFill>
                  <a:srgbClr val="1E3A8A"/>
                </a:solidFill>
                <a:latin typeface="Segoe UI"/>
              </a:rPr>
              <a:t>INNOVATION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▪"/>
            </a:pPr>
            <a:r>
              <a:rPr sz="1150" b="0">
                <a:solidFill>
                  <a:srgbClr val="1E293B"/>
                </a:solidFill>
                <a:latin typeface="Calibri"/>
              </a:rPr>
              <a:t>Injected into the LIVE solver — no IDF rewrite, no restart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▪"/>
            </a:pPr>
            <a:r>
              <a:rPr sz="1150" b="0">
                <a:solidFill>
                  <a:srgbClr val="1E293B"/>
                </a:solidFill>
                <a:latin typeface="Calibri"/>
              </a:rPr>
              <a:t>MCP is the safety boundary: every command validated server-side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363" name="TextBox 15362"/>
          <p:cNvSpPr txBox="1"/>
          <p:nvPr/>
        </p:nvSpPr>
        <p:spPr>
          <a:xfrm>
            <a:off x="384048" y="6382512"/>
            <a:ext cx="11430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75569"/>
                </a:solidFill>
                <a:latin typeface="Calibri"/>
              </a:rPr>
              <a:t>Echo-Loop[source: 1]@SIH Idea submission- Template2</a:t>
            </a:r>
          </a:p>
        </p:txBody>
      </p:sp>
      <p:sp>
        <p:nvSpPr>
          <p:cNvPr id="15365" name="Oval 15364"/>
          <p:cNvSpPr/>
          <p:nvPr/>
        </p:nvSpPr>
        <p:spPr>
          <a:xfrm>
            <a:off x="566928" y="118872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pic>
        <p:nvPicPr>
          <p:cNvPr id="15366" name="Picture 15365" descr="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060704"/>
            <a:ext cx="5532120" cy="1873783"/>
          </a:xfrm>
          <a:prstGeom prst="rect">
            <a:avLst/>
          </a:prstGeom>
        </p:spPr>
      </p:pic>
      <p:sp>
        <p:nvSpPr>
          <p:cNvPr id="15368" name="TextBox 15367"/>
          <p:cNvSpPr txBox="1"/>
          <p:nvPr/>
        </p:nvSpPr>
        <p:spPr>
          <a:xfrm>
            <a:off x="6547104" y="3063240"/>
            <a:ext cx="5093208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2600" b="1">
                <a:solidFill>
                  <a:srgbClr val="16A34A"/>
                </a:solidFill>
                <a:latin typeface="Segoe UI"/>
              </a:rPr>
              <a:t>−8.5% HVAC energy</a:t>
            </a:r>
          </a:p>
          <a:p>
            <a:pPr algn="l" marL="0" indent="0">
              <a:buNone/>
            </a:pPr>
            <a:r>
              <a:rPr sz="1100">
                <a:solidFill>
                  <a:srgbClr val="475569"/>
                </a:solidFill>
                <a:latin typeface="Calibri"/>
              </a:rPr>
              <a:t>Measured, not projected — while holding occupants closer to thermal neutrality than the baseline (mean PMV −0.43 → −0.02)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547104" y="4553712"/>
            <a:ext cx="51206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300" b="1">
                <a:solidFill>
                  <a:srgbClr val="1E3A8A"/>
                </a:solidFill>
                <a:latin typeface="Segoe UI"/>
              </a:rPr>
              <a:t>WHY IT IS DIFFERENT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150" b="0">
                <a:solidFill>
                  <a:srgbClr val="1E293B"/>
                </a:solidFill>
                <a:latin typeface="Calibri"/>
              </a:rPr>
              <a:t>Most LLM-and-simulation work rewrites the model file and re-runs it — that can only compare finished runs. It cannot react to a zone drifting out of comfort at 14:00 on day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Rounded Rectangle 17411"/>
          <p:cNvSpPr/>
          <p:nvPr/>
        </p:nvSpPr>
        <p:spPr>
          <a:xfrm>
            <a:off x="384048" y="969264"/>
            <a:ext cx="11430000" cy="896112"/>
          </a:xfrm>
          <a:prstGeom prst="roundRect">
            <a:avLst>
              <a:gd name="adj" fmla="val 3000"/>
            </a:avLst>
          </a:prstGeom>
          <a:solidFill>
            <a:srgbClr val="EF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400" b="1" dirty="0" i="0">
                <a:solidFill>
                  <a:srgbClr val="1E3A8A"/>
                </a:solidFill>
                <a:latin typeface="Segoe UI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115568" y="1042415"/>
            <a:ext cx="10424160" cy="1097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l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sz="1150" b="0">
                <a:solidFill>
                  <a:srgbClr val="1E293B"/>
                </a:solidFill>
                <a:latin typeface="Calibri"/>
              </a:rPr>
              <a:t>TECHNOLOGIES   EnergyPlus 26.1 (pyenergyplus C API) · Python · FastMCP over streamable HTTP · Ollama running Llama 3.2 3B · Pydantic · Streamlit + Plotly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150" b="0">
                <a:solidFill>
                  <a:srgbClr val="1E293B"/>
                </a:solidFill>
                <a:latin typeface="Calibri"/>
              </a:rPr>
              <a:t>METHODOLOGY   sample every timestep → aggregate per control interval → LLM tool-calling turn → validate → inject into live actuators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411" name="TextBox 17410"/>
          <p:cNvSpPr txBox="1"/>
          <p:nvPr/>
        </p:nvSpPr>
        <p:spPr>
          <a:xfrm>
            <a:off x="384048" y="6382512"/>
            <a:ext cx="11430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75569"/>
                </a:solidFill>
                <a:latin typeface="Calibri"/>
              </a:rPr>
              <a:t>Echo-Loop[source: 1]@SIH Idea submission- Template3</a:t>
            </a:r>
          </a:p>
        </p:txBody>
      </p:sp>
      <p:sp>
        <p:nvSpPr>
          <p:cNvPr id="17413" name="Oval 17412"/>
          <p:cNvSpPr/>
          <p:nvPr/>
        </p:nvSpPr>
        <p:spPr>
          <a:xfrm>
            <a:off x="566928" y="109728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pic>
        <p:nvPicPr>
          <p:cNvPr id="17414" name="Picture 17413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59152"/>
            <a:ext cx="11064240" cy="4100015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100" b="0">
                <a:solidFill>
                  <a:srgbClr val="475569"/>
                </a:solidFill>
                <a:latin typeface="Calibri"/>
              </a:rPr>
              <a:t>The loop closes inside a single running simulation — 168 agent decisions per simulated week, zero restarts.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1" name="Rounded Rectangle 17420"/>
          <p:cNvSpPr/>
          <p:nvPr/>
        </p:nvSpPr>
        <p:spPr>
          <a:xfrm>
            <a:off x="384048" y="4535424"/>
            <a:ext cx="11430000" cy="1225296"/>
          </a:xfrm>
          <a:prstGeom prst="roundRect">
            <a:avLst>
              <a:gd name="adj" fmla="val 3000"/>
            </a:avLst>
          </a:prstGeom>
          <a:solidFill>
            <a:srgbClr val="ECF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6172200" y="2487168"/>
            <a:ext cx="5641848" cy="1810512"/>
          </a:xfrm>
          <a:prstGeom prst="roundRect">
            <a:avLst>
              <a:gd name="adj" fmla="val 3000"/>
            </a:avLst>
          </a:prstGeom>
          <a:solidFill>
            <a:srgbClr val="EF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Rounded Rectangle 17417"/>
          <p:cNvSpPr/>
          <p:nvPr/>
        </p:nvSpPr>
        <p:spPr>
          <a:xfrm>
            <a:off x="384048" y="2487168"/>
            <a:ext cx="5669280" cy="1810512"/>
          </a:xfrm>
          <a:prstGeom prst="roundRect">
            <a:avLst>
              <a:gd name="adj" fmla="val 3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Rounded Rectangle 17415"/>
          <p:cNvSpPr/>
          <p:nvPr/>
        </p:nvSpPr>
        <p:spPr>
          <a:xfrm>
            <a:off x="8138160" y="932688"/>
            <a:ext cx="3675887" cy="1335024"/>
          </a:xfrm>
          <a:prstGeom prst="roundRect">
            <a:avLst>
              <a:gd name="adj" fmla="val 3000"/>
            </a:avLst>
          </a:prstGeom>
          <a:solidFill>
            <a:srgbClr val="EFF4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Rounded Rectangle 17413"/>
          <p:cNvSpPr/>
          <p:nvPr/>
        </p:nvSpPr>
        <p:spPr>
          <a:xfrm>
            <a:off x="4261104" y="932688"/>
            <a:ext cx="3675887" cy="1335024"/>
          </a:xfrm>
          <a:prstGeom prst="roundRect">
            <a:avLst>
              <a:gd name="adj" fmla="val 3000"/>
            </a:avLst>
          </a:prstGeom>
          <a:solidFill>
            <a:srgbClr val="ECFDF3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384048" y="932688"/>
            <a:ext cx="3675887" cy="1335024"/>
          </a:xfrm>
          <a:prstGeom prst="roundRect">
            <a:avLst>
              <a:gd name="adj" fmla="val 3000"/>
            </a:avLst>
          </a:prstGeom>
          <a:solidFill>
            <a:srgbClr val="ECFDF3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400" b="1" dirty="0" i="0">
                <a:solidFill>
                  <a:srgbClr val="1E3A8A"/>
                </a:solidFill>
                <a:latin typeface="Segoe UI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58368" y="2578608"/>
            <a:ext cx="5120640" cy="21396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1">
                <a:solidFill>
                  <a:srgbClr val="EA580C"/>
                </a:solidFill>
                <a:latin typeface="Segoe UI"/>
              </a:rPr>
              <a:t>RISKS &amp; CONSTRAINTS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165100" indent="-165100">
              <a:spcAft>
                <a:spcPts val="800"/>
              </a:spcAft>
              <a:buFont typeface="Calibri"/>
              <a:buChar char="▪"/>
            </a:pPr>
            <a:r>
              <a:rPr sz="1150" b="0">
                <a:solidFill>
                  <a:srgbClr val="1E293B"/>
                </a:solidFill>
                <a:latin typeface="Calibri"/>
              </a:rPr>
              <a:t>LLM latency inside a blocking simulation callback</a:t>
            </a:r>
          </a:p>
          <a:p>
            <a:pPr algn="l" marL="165100" indent="-165100">
              <a:spcAft>
                <a:spcPts val="800"/>
              </a:spcAft>
              <a:buFont typeface="Calibri"/>
              <a:buChar char="▪"/>
            </a:pPr>
            <a:r>
              <a:rPr sz="1150" b="0">
                <a:solidFill>
                  <a:srgbClr val="1E293B"/>
                </a:solidFill>
                <a:latin typeface="Calibri"/>
              </a:rPr>
              <a:t>A small model can move the wrong setpoint, or run heating against cooling</a:t>
            </a:r>
          </a:p>
          <a:p>
            <a:pPr algn="l" marL="165100" indent="-165100">
              <a:spcAft>
                <a:spcPts val="800"/>
              </a:spcAft>
              <a:buFont typeface="Calibri"/>
              <a:buChar char="▪"/>
            </a:pPr>
            <a:r>
              <a:rPr sz="1150" b="0">
                <a:solidFill>
                  <a:srgbClr val="1E293B"/>
                </a:solidFill>
                <a:latin typeface="Calibri"/>
              </a:rPr>
              <a:t>One setpoint pair cannot satisfy five differently-loaded zones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1" name="TextBox 17410"/>
          <p:cNvSpPr txBox="1"/>
          <p:nvPr/>
        </p:nvSpPr>
        <p:spPr>
          <a:xfrm>
            <a:off x="384048" y="6382512"/>
            <a:ext cx="11430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75569"/>
                </a:solidFill>
                <a:latin typeface="Calibri"/>
              </a:rPr>
              <a:t>Echo-Loop[source: 1]@SIH Idea submission- Template4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21792" y="1051560"/>
            <a:ext cx="320039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3300" b="1">
                <a:solidFill>
                  <a:srgbClr val="16A34A"/>
                </a:solidFill>
                <a:latin typeface="Segoe UI"/>
              </a:rPr>
              <a:t>336 / 336</a:t>
            </a:r>
          </a:p>
          <a:p>
            <a:pPr algn="l" marL="0" indent="0">
              <a:buNone/>
            </a:pPr>
            <a:r>
              <a:rPr sz="1100">
                <a:solidFill>
                  <a:srgbClr val="475569"/>
                </a:solidFill>
                <a:latin typeface="Calibri"/>
              </a:rPr>
              <a:t>agent turns — 0 fallbacks, 0 timeouts, 0 actuation errors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498848" y="1051560"/>
            <a:ext cx="320039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3300" b="1">
                <a:solidFill>
                  <a:srgbClr val="16A34A"/>
                </a:solidFill>
                <a:latin typeface="Segoe UI"/>
              </a:rPr>
              <a:t>−8.5%</a:t>
            </a:r>
          </a:p>
          <a:p>
            <a:pPr algn="l" marL="0" indent="0">
              <a:buNone/>
            </a:pPr>
            <a:r>
              <a:rPr sz="1100">
                <a:solidFill>
                  <a:srgbClr val="475569"/>
                </a:solidFill>
                <a:latin typeface="Calibri"/>
              </a:rPr>
              <a:t>HVAC energy, summer week (−3.7% winter)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375904" y="1051560"/>
            <a:ext cx="320039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3300" b="1">
                <a:solidFill>
                  <a:srgbClr val="2563EB"/>
                </a:solidFill>
                <a:latin typeface="Segoe UI"/>
              </a:rPr>
              <a:t>2.1 s</a:t>
            </a:r>
          </a:p>
          <a:p>
            <a:pPr algn="l" marL="0" indent="0">
              <a:buNone/>
            </a:pPr>
            <a:r>
              <a:rPr sz="1100">
                <a:solidFill>
                  <a:srgbClr val="475569"/>
                </a:solidFill>
                <a:latin typeface="Calibri"/>
              </a:rPr>
              <a:t>median agent decision latency, fully on-device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446520" y="2578608"/>
            <a:ext cx="5093208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800"/>
              </a:spcAft>
              <a:buNone/>
            </a:pPr>
            <a:r>
              <a:rPr sz="1300" b="1">
                <a:solidFill>
                  <a:srgbClr val="1E3A8A"/>
                </a:solidFill>
                <a:latin typeface="Segoe UI"/>
              </a:rPr>
              <a:t>HOW EACH IS SOLVED</a:t>
            </a:r>
          </a:p>
          <a:p>
            <a:pPr algn="l" marL="165100" indent="-165100">
              <a:spcAft>
                <a:spcPts val="800"/>
              </a:spcAft>
              <a:buFont typeface="Calibri"/>
              <a:buChar char="▪"/>
            </a:pPr>
            <a:r>
              <a:rPr sz="1150" b="0">
                <a:solidFill>
                  <a:srgbClr val="1E293B"/>
                </a:solidFill>
                <a:latin typeface="Calibri"/>
              </a:rPr>
              <a:t>Hard per-turn deadline; on timeout the loop holds the last accepted command</a:t>
            </a:r>
          </a:p>
          <a:p>
            <a:pPr algn="l" marL="165100" indent="-165100">
              <a:spcAft>
                <a:spcPts val="800"/>
              </a:spcAft>
              <a:buFont typeface="Calibri"/>
              <a:buChar char="▪"/>
            </a:pPr>
            <a:r>
              <a:rPr sz="1150" b="0">
                <a:solidFill>
                  <a:srgbClr val="1E293B"/>
                </a:solidFill>
                <a:latin typeface="Calibri"/>
              </a:rPr>
              <a:t>Observations state the required direction — the model cannot invert physics</a:t>
            </a:r>
          </a:p>
          <a:p>
            <a:pPr algn="l" marL="165100" indent="-165100">
              <a:spcAft>
                <a:spcPts val="800"/>
              </a:spcAft>
              <a:buFont typeface="Calibri"/>
              <a:buChar char="▪"/>
            </a:pPr>
            <a:r>
              <a:rPr sz="1150" b="0">
                <a:solidFill>
                  <a:srgbClr val="1E293B"/>
                </a:solidFill>
                <a:latin typeface="Calibri"/>
              </a:rPr>
              <a:t>Seasonal changeover parks the idle setpoint; a per-zone trim corrects each zone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58368" y="4626864"/>
            <a:ext cx="1088136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300" b="1">
                <a:solidFill>
                  <a:srgbClr val="16A34A"/>
                </a:solidFill>
                <a:latin typeface="Segoe UI"/>
              </a:rPr>
              <a:t>VIABILITY AT SCALE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150" b="0">
                <a:solidFill>
                  <a:srgbClr val="1E293B"/>
                </a:solidFill>
                <a:latin typeface="Calibri"/>
              </a:rPr>
              <a:t>Buildings consume roughly 40% of global energy — a single-digit HVAC reduction is material at portfolio scale. The loop is model-agnostic: any EnergyPlus model with a thermostat works, and swapping in a larger cognitive engine needs no change to the MCP tool layer.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Rounded Rectangle 17411"/>
          <p:cNvSpPr/>
          <p:nvPr/>
        </p:nvSpPr>
        <p:spPr>
          <a:xfrm>
            <a:off x="384048" y="914400"/>
            <a:ext cx="11430000" cy="1060704"/>
          </a:xfrm>
          <a:prstGeom prst="roundRect">
            <a:avLst>
              <a:gd name="adj" fmla="val 3000"/>
            </a:avLst>
          </a:prstGeom>
          <a:solidFill>
            <a:srgbClr val="EF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400" b="1" dirty="0" i="0">
                <a:solidFill>
                  <a:srgbClr val="1E3A8A"/>
                </a:solidFill>
                <a:latin typeface="Segoe UI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ARTIFACTS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5568" y="987552"/>
            <a:ext cx="10424160" cy="11338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300" b="1">
                <a:solidFill>
                  <a:srgbClr val="1E3A8A"/>
                </a:solidFill>
                <a:latin typeface="Consolas"/>
              </a:rPr>
              <a:t>github.com/ayushYadav1107/Eco_loop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150" b="0">
                <a:solidFill>
                  <a:srgbClr val="1E293B"/>
                </a:solidFill>
                <a:latin typeface="Calibri"/>
              </a:rPr>
              <a:t>Baseline and runtime-generated .idf models, the full agent decision trail (agent_decisions.jsonl), per-timestep EnergyPlus results and the savings dashboard are all committed — a fresh clone reproduces every figure here.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1" name="TextBox 17410"/>
          <p:cNvSpPr txBox="1"/>
          <p:nvPr/>
        </p:nvSpPr>
        <p:spPr>
          <a:xfrm>
            <a:off x="384048" y="6382512"/>
            <a:ext cx="11430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75569"/>
                </a:solidFill>
                <a:latin typeface="Calibri"/>
              </a:rPr>
              <a:t>Echo-Loop[source: 1]@SIH Idea submission- Template5</a:t>
            </a:r>
          </a:p>
        </p:txBody>
      </p:sp>
      <p:sp>
        <p:nvSpPr>
          <p:cNvPr id="17413" name="Oval 17412"/>
          <p:cNvSpPr/>
          <p:nvPr/>
        </p:nvSpPr>
        <p:spPr>
          <a:xfrm>
            <a:off x="566928" y="1060704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pic>
        <p:nvPicPr>
          <p:cNvPr id="17414" name="Picture 17413" descr="decis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267712"/>
            <a:ext cx="11064240" cy="4100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8" name="Rounded Rectangle 17417"/>
          <p:cNvSpPr/>
          <p:nvPr/>
        </p:nvSpPr>
        <p:spPr>
          <a:xfrm>
            <a:off x="384048" y="4956048"/>
            <a:ext cx="11430000" cy="1207008"/>
          </a:xfrm>
          <a:prstGeom prst="roundRect">
            <a:avLst>
              <a:gd name="adj" fmla="val 3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Rounded Rectangle 17415"/>
          <p:cNvSpPr/>
          <p:nvPr/>
        </p:nvSpPr>
        <p:spPr>
          <a:xfrm>
            <a:off x="6309360" y="3236976"/>
            <a:ext cx="5504688" cy="1499616"/>
          </a:xfrm>
          <a:prstGeom prst="roundRect">
            <a:avLst>
              <a:gd name="adj" fmla="val 3000"/>
            </a:avLst>
          </a:prstGeom>
          <a:solidFill>
            <a:srgbClr val="ECF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Rounded Rectangle 17413"/>
          <p:cNvSpPr/>
          <p:nvPr/>
        </p:nvSpPr>
        <p:spPr>
          <a:xfrm>
            <a:off x="6309360" y="969264"/>
            <a:ext cx="5504688" cy="2139696"/>
          </a:xfrm>
          <a:prstGeom prst="roundRect">
            <a:avLst>
              <a:gd name="adj" fmla="val 3000"/>
            </a:avLst>
          </a:prstGeom>
          <a:solidFill>
            <a:srgbClr val="EF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384048" y="969264"/>
            <a:ext cx="5760720" cy="33101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400" b="1" dirty="0" i="0">
                <a:solidFill>
                  <a:srgbClr val="1E3A8A"/>
                </a:solidFill>
                <a:latin typeface="Segoe UI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115568" y="1078992"/>
            <a:ext cx="4864608" cy="3566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250" b="1">
                <a:solidFill>
                  <a:srgbClr val="1E3A8A"/>
                </a:solidFill>
                <a:latin typeface="Segoe UI"/>
              </a:rPr>
              <a:t>SIMULATION &amp; BUILDING PHYSICS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165100" indent="-165100">
              <a:spcAft>
                <a:spcPts val="600"/>
              </a:spcAft>
              <a:buFont typeface="Calibri"/>
              <a:buChar char="▪"/>
            </a:pPr>
            <a:r>
              <a:rPr sz="1100" b="0">
                <a:solidFill>
                  <a:srgbClr val="1E293B"/>
                </a:solidFill>
                <a:latin typeface="Calibri"/>
              </a:rPr>
              <a:t>EnergyPlus Engineering Reference · EMS Application Guide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▪"/>
            </a:pPr>
            <a:r>
              <a:rPr sz="1100" b="0">
                <a:solidFill>
                  <a:srgbClr val="1E293B"/>
                </a:solidFill>
                <a:latin typeface="Calibri"/>
              </a:rPr>
              <a:t>pyenergyplus Data Exchange API — get_variable_handle, set_actuator_value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▪"/>
            </a:pPr>
            <a:r>
              <a:rPr sz="1100" b="0">
                <a:solidFill>
                  <a:srgbClr val="1E293B"/>
                </a:solidFill>
                <a:latin typeface="Calibri"/>
              </a:rPr>
              <a:t>ISO 7730:2005 · ASHRAE Standard 55 — PMV/PPD comfort model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250" b="1">
                <a:solidFill>
                  <a:srgbClr val="1E3A8A"/>
                </a:solidFill>
                <a:latin typeface="Segoe UI"/>
              </a:rPr>
              <a:t>AGENT, PROTOCOL &amp; INFERENCE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▪"/>
            </a:pPr>
            <a:r>
              <a:rPr sz="1100" b="0">
                <a:solidFill>
                  <a:srgbClr val="1E293B"/>
                </a:solidFill>
                <a:latin typeface="Calibri"/>
              </a:rPr>
              <a:t>Model Context Protocol — modelcontextprotocol.io · FastMCP — gofastmcp.com</a:t>
            </a:r>
          </a:p>
          <a:p>
            <a:pPr algn="l" marL="165100" indent="-165100">
              <a:spcAft>
                <a:spcPts val="600"/>
              </a:spcAft>
              <a:buFont typeface="Calibri"/>
              <a:buChar char="▪"/>
            </a:pPr>
            <a:r>
              <a:rPr sz="1100" b="0">
                <a:solidFill>
                  <a:srgbClr val="1E293B"/>
                </a:solidFill>
                <a:latin typeface="Calibri"/>
              </a:rPr>
              <a:t>Meta Llama 3.2 served locally through Ollama — ollama.com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1" name="TextBox 17410"/>
          <p:cNvSpPr txBox="1"/>
          <p:nvPr/>
        </p:nvSpPr>
        <p:spPr>
          <a:xfrm>
            <a:off x="384048" y="6382512"/>
            <a:ext cx="11430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475569"/>
                </a:solidFill>
                <a:latin typeface="Calibri"/>
              </a:rPr>
              <a:t>Echo-Loop[source: 1]@SIH Idea submission- Template6</a:t>
            </a:r>
          </a:p>
        </p:txBody>
      </p:sp>
      <p:sp>
        <p:nvSpPr>
          <p:cNvPr id="17413" name="Oval 17412"/>
          <p:cNvSpPr/>
          <p:nvPr/>
        </p:nvSpPr>
        <p:spPr>
          <a:xfrm>
            <a:off x="566928" y="1097280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565392" y="1060704"/>
            <a:ext cx="4992624" cy="1956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250" b="1">
                <a:solidFill>
                  <a:srgbClr val="1E3A8A"/>
                </a:solidFill>
                <a:latin typeface="Segoe UI"/>
              </a:rPr>
              <a:t>REPRODUCE THE RESULT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0">
                <a:solidFill>
                  <a:srgbClr val="1E293B"/>
                </a:solidFill>
                <a:latin typeface="Consolas"/>
              </a:rPr>
              <a:t>python main.py prepare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0">
                <a:solidFill>
                  <a:srgbClr val="1E293B"/>
                </a:solidFill>
                <a:latin typeface="Consolas"/>
              </a:rPr>
              <a:t>python main.py run-baseline --start 07-15 --end 07-21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0">
                <a:solidFill>
                  <a:srgbClr val="1E293B"/>
                </a:solidFill>
                <a:latin typeface="Consolas"/>
              </a:rPr>
              <a:t>python main.py run-ai --start 07-15 --end 07-21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0">
                <a:solidFill>
                  <a:srgbClr val="1E293B"/>
                </a:solidFill>
                <a:latin typeface="Consolas"/>
              </a:rPr>
              <a:t>python main.py dashboard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565392" y="3328416"/>
            <a:ext cx="499262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250" b="1">
                <a:solidFill>
                  <a:srgbClr val="16A34A"/>
                </a:solidFill>
                <a:latin typeface="Segoe UI"/>
              </a:rPr>
              <a:t>AUDITABLE, NOT ANECDOTAL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100" b="0">
                <a:solidFill>
                  <a:srgbClr val="1E293B"/>
                </a:solidFill>
                <a:latin typeface="Calibri"/>
              </a:rPr>
              <a:t>The controller runs at temperature 0, so repeated runs return identical totals. Anyone can clone the repo and reproduce these exact figures.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58368" y="5047488"/>
            <a:ext cx="108813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250" b="1">
                <a:solidFill>
                  <a:srgbClr val="EA580C"/>
                </a:solidFill>
                <a:latin typeface="Segoe UI"/>
              </a:rPr>
              <a:t>HONEST LIMITATION — AND THE NEXT STEP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150" b="0">
                <a:solidFill>
                  <a:srgbClr val="1E293B"/>
                </a:solidFill>
                <a:latin typeface="Calibri"/>
              </a:rPr>
              <a:t>One setpoint pair drives five differently-loaded zones. Per zone the agent holds 85–96% of occupied time inside the PMV band; the stricter worst-zone metric is lower. Per-zone setpoints are next — the actuator handles and per-zone PMV are already in place.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