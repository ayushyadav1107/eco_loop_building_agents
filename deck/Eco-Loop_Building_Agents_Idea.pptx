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6446520" y="4389120"/>
            <a:ext cx="5358384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198864" y="2944368"/>
            <a:ext cx="2606040" cy="1280160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46520" y="2944368"/>
            <a:ext cx="2606040" cy="1280160"/>
          </a:xfrm>
          <a:prstGeom prst="roundRect">
            <a:avLst>
              <a:gd name="adj" fmla="val 3000"/>
            </a:avLst>
          </a:prstGeom>
          <a:solidFill>
            <a:srgbClr val="ECFDF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5806440" cy="3017520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z="3400" i="0">
                <a:solidFill>
                  <a:srgbClr val="1E3A8A"/>
                </a:solidFill>
                <a:latin typeface="Segoe UI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658368" y="1280160"/>
            <a:ext cx="5303520" cy="2743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Aft>
                <a:spcPts val="900"/>
              </a:spcAft>
              <a:buNone/>
            </a:pPr>
            <a:r>
              <a:rPr sz="1300" b="1">
                <a:solidFill>
                  <a:srgbClr val="EA580C"/>
                </a:solidFill>
                <a:latin typeface="Calibri"/>
              </a:rPr>
              <a:t>Problem Statement ID   &lt;&lt;FILL IN&gt;&gt;</a:t>
            </a:r>
            <a:endParaRPr lang="en-US" dirty="0"/>
          </a:p>
          <a:p>
            <a:pPr algn="l" marL="0" indent="0">
              <a:spcAft>
                <a:spcPts val="900"/>
              </a:spcAft>
              <a:buNone/>
            </a:pPr>
            <a:r>
              <a:rPr sz="1300" b="0">
                <a:solidFill>
                  <a:srgbClr val="1E293B"/>
                </a:solidFill>
                <a:latin typeface="Calibri"/>
              </a:rPr>
              <a:t>Problem Statement Title   Eco-Loop Building Agents — autonomous closed-loop HVAC control using EnergyPlus, MCP and a local open-source LLM</a:t>
            </a:r>
          </a:p>
          <a:p>
            <a:pPr algn="l" marL="0" indent="0">
              <a:spcAft>
                <a:spcPts val="900"/>
              </a:spcAft>
              <a:buNone/>
            </a:pPr>
            <a:r>
              <a:rPr sz="1300" b="0">
                <a:solidFill>
                  <a:srgbClr val="1E293B"/>
                </a:solidFill>
                <a:latin typeface="Calibri"/>
              </a:rPr>
              <a:t>Theme   &lt;&lt;FILL IN&gt;&gt;      ·      PS Category   Software</a:t>
            </a:r>
          </a:p>
          <a:p>
            <a:pPr algn="l" marL="0" indent="0">
              <a:spcAft>
                <a:spcPts val="900"/>
              </a:spcAft>
              <a:buNone/>
            </a:pPr>
            <a:r>
              <a:rPr sz="1300" b="0">
                <a:solidFill>
                  <a:srgbClr val="1E293B"/>
                </a:solidFill>
                <a:latin typeface="Calibri"/>
              </a:rPr>
              <a:t>Student   Ayush Yadav</a:t>
            </a:r>
          </a:p>
          <a:p>
            <a:pPr algn="l" marL="0" indent="0">
              <a:spcAft>
                <a:spcPts val="900"/>
              </a:spcAft>
              <a:buNone/>
            </a:pPr>
            <a:r>
              <a:rPr sz="1300" b="0">
                <a:solidFill>
                  <a:srgbClr val="1E293B"/>
                </a:solidFill>
                <a:latin typeface="Calibri"/>
              </a:rPr>
              <a:t>Student ID   &lt;&lt;FILL IN&gt;&gt;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33856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900"/>
              </a:spcAft>
              <a:buNone/>
            </a:pPr>
            <a:r>
              <a:rPr sz="2000" b="1">
                <a:solidFill>
                  <a:srgbClr val="1E3A8A"/>
                </a:solidFill>
                <a:latin typeface="Segoe UI"/>
              </a:rPr>
              <a:t>A BUILDING THAT RUNS ITSELF</a:t>
            </a:r>
          </a:p>
          <a:p>
            <a:pPr algn="l" marL="0" indent="0">
              <a:spcAft>
                <a:spcPts val="900"/>
              </a:spcAft>
              <a:buNone/>
            </a:pPr>
            <a:r>
              <a:rPr sz="1250" b="0">
                <a:solidFill>
                  <a:srgbClr val="1E293B"/>
                </a:solidFill>
                <a:latin typeface="Calibri"/>
              </a:rPr>
              <a:t>EnergyPlus supplies the physics. A local open-source LLM supplies the judgement. The Model Context Protocol carries every reading and every command between them — while the simulation is still running.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3063240"/>
            <a:ext cx="21305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3200" b="1">
                <a:solidFill>
                  <a:srgbClr val="16A34A"/>
                </a:solidFill>
                <a:latin typeface="Segoe UI"/>
              </a:rPr>
              <a:t>−8.5%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HVAC energy
summer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3063240"/>
            <a:ext cx="21305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2800" b="1">
                <a:solidFill>
                  <a:srgbClr val="2563EB"/>
                </a:solidFill>
                <a:latin typeface="Segoe UI"/>
              </a:rPr>
              <a:t>336/336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agent turns
zero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4507992"/>
            <a:ext cx="48828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2100" b="1">
                <a:solidFill>
                  <a:srgbClr val="1E3A8A"/>
                </a:solidFill>
                <a:latin typeface="Segoe UI"/>
              </a:rPr>
              <a:t>100% open source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One laptop — no cloud, no API keys, no per-query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15968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100" b="1">
                <a:solidFill>
                  <a:srgbClr val="1E3A8A"/>
                </a:solidFill>
                <a:latin typeface="Segoe UI"/>
              </a:rPr>
              <a:t>TECH STACK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100" b="0">
                <a:solidFill>
                  <a:srgbClr val="475569"/>
                </a:solidFill>
                <a:latin typeface="Calibri"/>
              </a:rPr>
              <a:t>EnergyPlus 26.1 · pyenergyplus · FastMCP · Model Context Protocol · Ollama + Llama 3.2 3B · Pydantic · Streamlit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ounded Rectangle 15368"/>
          <p:cNvSpPr/>
          <p:nvPr/>
        </p:nvSpPr>
        <p:spPr>
          <a:xfrm>
            <a:off x="6309360" y="4462272"/>
            <a:ext cx="5568696" cy="1627632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Rounded Rectangle 15366"/>
          <p:cNvSpPr/>
          <p:nvPr/>
        </p:nvSpPr>
        <p:spPr>
          <a:xfrm>
            <a:off x="6309360" y="2944368"/>
            <a:ext cx="5568696" cy="1371600"/>
          </a:xfrm>
          <a:prstGeom prst="roundRect">
            <a:avLst>
              <a:gd name="adj" fmla="val 3000"/>
            </a:avLst>
          </a:prstGeom>
          <a:solidFill>
            <a:srgbClr val="ECFDF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Rounded Rectangle 15363"/>
          <p:cNvSpPr/>
          <p:nvPr/>
        </p:nvSpPr>
        <p:spPr>
          <a:xfrm>
            <a:off x="384048" y="1060704"/>
            <a:ext cx="576072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400" b="1" dirty="0" i="0">
                <a:solidFill>
                  <a:srgbClr val="1E3A8A"/>
                </a:solidFill>
                <a:latin typeface="Segoe U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15568" y="1170432"/>
            <a:ext cx="4864608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00" b="1">
                <a:solidFill>
                  <a:srgbClr val="1E3A8A"/>
                </a:solidFill>
                <a:latin typeface="Segoe UI"/>
              </a:rPr>
              <a:t>PROPOSED SOLUTION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algn="l" marL="0" indent="0">
              <a:spcAft>
                <a:spcPts val="600"/>
              </a:spcAft>
              <a:buNone/>
            </a:pPr>
            <a:r>
              <a:rPr sz="1200" b="0">
                <a:solidFill>
                  <a:srgbClr val="1E293B"/>
                </a:solidFill>
                <a:latin typeface="Calibri"/>
              </a:rPr>
              <a:t>Traditional BMS follow rigid clock schedules. Eco-Loop turns the building into a self-correcting agent.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300" b="1">
                <a:solidFill>
                  <a:srgbClr val="1E3A8A"/>
                </a:solidFill>
                <a:latin typeface="Segoe UI"/>
              </a:rPr>
              <a:t>HOW IT WORKS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EnergyPlus runs in-process; sensors read every zone timestep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Every 60 simulated minutes the state reaches a local LLM via six MCP tools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The model weighs comfort, demand and grid carbon, then returns setpoints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300" b="1">
                <a:solidFill>
                  <a:srgbClr val="1E3A8A"/>
                </a:solidFill>
                <a:latin typeface="Segoe UI"/>
              </a:rPr>
              <a:t>INNOVATION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Injected into the LIVE solver — no IDF rewrite, no restart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MCP is the safety boundary: every command validated server-side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2</a:t>
            </a:r>
          </a:p>
        </p:txBody>
      </p:sp>
      <p:sp>
        <p:nvSpPr>
          <p:cNvPr id="15365" name="Oval 15364"/>
          <p:cNvSpPr/>
          <p:nvPr/>
        </p:nvSpPr>
        <p:spPr>
          <a:xfrm>
            <a:off x="566928" y="1188720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pic>
        <p:nvPicPr>
          <p:cNvPr id="15366" name="Picture 15365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60704"/>
            <a:ext cx="5532120" cy="1873783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6547104" y="3063240"/>
            <a:ext cx="50932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2600" b="1">
                <a:solidFill>
                  <a:srgbClr val="16A34A"/>
                </a:solidFill>
                <a:latin typeface="Segoe UI"/>
              </a:rPr>
              <a:t>−8.5% HVAC energy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Measured, not projected — while holding occupants closer to thermal neutrality than the baseline (mean PMV −0.43 → −0.02)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547104" y="4553712"/>
            <a:ext cx="51206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300" b="1">
                <a:solidFill>
                  <a:srgbClr val="1E3A8A"/>
                </a:solidFill>
                <a:latin typeface="Segoe UI"/>
              </a:rPr>
              <a:t>WHY IT IS DIFFERENT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150" b="0">
                <a:solidFill>
                  <a:srgbClr val="1E293B"/>
                </a:solidFill>
                <a:latin typeface="Calibri"/>
              </a:rPr>
              <a:t>Most LLM-and-simulation work rewrites the model file and re-runs it — that can only compare finished runs. It cannot react to a zone drifting out of comfort at 14:00 on day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ounded Rectangle 17411"/>
          <p:cNvSpPr/>
          <p:nvPr/>
        </p:nvSpPr>
        <p:spPr>
          <a:xfrm>
            <a:off x="384048" y="96926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 i="0">
                <a:solidFill>
                  <a:srgbClr val="1E3A8A"/>
                </a:solidFill>
                <a:latin typeface="Segoe U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15568" y="1042415"/>
            <a:ext cx="10424160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sz="1150" b="0">
                <a:solidFill>
                  <a:srgbClr val="1E293B"/>
                </a:solidFill>
                <a:latin typeface="Calibri"/>
              </a:rPr>
              <a:t>TECHNOLOGIES   EnergyPlus 26.1 (pyenergyplus C API) · Python · FastMCP over streamable HTTP · Ollama running Llama 3.2 3B · Pydantic · Streamlit + Plotly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50" b="0">
                <a:solidFill>
                  <a:srgbClr val="1E293B"/>
                </a:solidFill>
                <a:latin typeface="Calibri"/>
              </a:rPr>
              <a:t>METHODOLOGY   sample every timestep → aggregate per control interval → LLM tool-calling turn → validate → inject into live actuators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3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66928" y="1097280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pic>
        <p:nvPicPr>
          <p:cNvPr id="17414" name="Picture 17413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956816"/>
            <a:ext cx="9601200" cy="3557864"/>
          </a:xfrm>
          <a:prstGeom prst="rect">
            <a:avLst/>
          </a:prstGeom>
        </p:spPr>
      </p:pic>
      <p:pic>
        <p:nvPicPr>
          <p:cNvPr id="17415" name="Picture 17414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230368"/>
            <a:ext cx="11064240" cy="117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" name="Rounded Rectangle 17418"/>
          <p:cNvSpPr/>
          <p:nvPr/>
        </p:nvSpPr>
        <p:spPr>
          <a:xfrm>
            <a:off x="6172200" y="2487168"/>
            <a:ext cx="5641848" cy="1810512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384048" y="2487168"/>
            <a:ext cx="5669280" cy="1810512"/>
          </a:xfrm>
          <a:prstGeom prst="roundRect">
            <a:avLst>
              <a:gd name="adj" fmla="val 3000"/>
            </a:avLst>
          </a:prstGeom>
          <a:solidFill>
            <a:srgbClr val="F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8138160" y="932688"/>
            <a:ext cx="3675887" cy="1335024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261104" y="932688"/>
            <a:ext cx="3675887" cy="1335024"/>
          </a:xfrm>
          <a:prstGeom prst="roundRect">
            <a:avLst>
              <a:gd name="adj" fmla="val 3000"/>
            </a:avLst>
          </a:prstGeom>
          <a:solidFill>
            <a:srgbClr val="ECFDF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84048" y="932688"/>
            <a:ext cx="3675887" cy="1335024"/>
          </a:xfrm>
          <a:prstGeom prst="roundRect">
            <a:avLst>
              <a:gd name="adj" fmla="val 3000"/>
            </a:avLst>
          </a:prstGeom>
          <a:solidFill>
            <a:srgbClr val="ECFDF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 i="0">
                <a:solidFill>
                  <a:srgbClr val="1E3A8A"/>
                </a:solidFill>
                <a:latin typeface="Segoe U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8368" y="2578608"/>
            <a:ext cx="5120640" cy="213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>
                <a:solidFill>
                  <a:srgbClr val="EA580C"/>
                </a:solidFill>
                <a:latin typeface="Segoe UI"/>
              </a:rPr>
              <a:t>RISKS &amp; CONSTRAINTS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LLM latency inside a blocking simulation callback</a:t>
            </a: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A small model can move the wrong setpoint, or run heating against cooling</a:t>
            </a: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One setpoint pair cannot satisfy five differently-loaded zones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051560"/>
            <a:ext cx="3200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3300" b="1">
                <a:solidFill>
                  <a:srgbClr val="16A34A"/>
                </a:solidFill>
                <a:latin typeface="Segoe UI"/>
              </a:rPr>
              <a:t>336 / 336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agent turns — 0 fallbacks, 0 timeouts, 0 actuation errors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98848" y="1051560"/>
            <a:ext cx="3200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3300" b="1">
                <a:solidFill>
                  <a:srgbClr val="16A34A"/>
                </a:solidFill>
                <a:latin typeface="Segoe UI"/>
              </a:rPr>
              <a:t>−8.5%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HVAC energy, summer week (−3.7% winter)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375904" y="1051560"/>
            <a:ext cx="3200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buNone/>
            </a:pPr>
            <a:r>
              <a:rPr sz="3300" b="1">
                <a:solidFill>
                  <a:srgbClr val="2563EB"/>
                </a:solidFill>
                <a:latin typeface="Segoe UI"/>
              </a:rPr>
              <a:t>2.1 s</a:t>
            </a:r>
          </a:p>
          <a:p>
            <a:pPr algn="l" marL="0" indent="0">
              <a:buNone/>
            </a:pPr>
            <a:r>
              <a:rPr sz="1100">
                <a:solidFill>
                  <a:srgbClr val="475569"/>
                </a:solidFill>
                <a:latin typeface="Calibri"/>
              </a:rPr>
              <a:t>median agent decision latency, fully on-device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46520" y="2578608"/>
            <a:ext cx="50932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1300" b="1">
                <a:solidFill>
                  <a:srgbClr val="1E3A8A"/>
                </a:solidFill>
                <a:latin typeface="Segoe UI"/>
              </a:rPr>
              <a:t>HOW EACH IS SOLVED</a:t>
            </a: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Hard per-turn deadline; on timeout the loop holds the last accepted command</a:t>
            </a: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Observations state the required direction — the model cannot invert physics</a:t>
            </a:r>
          </a:p>
          <a:p>
            <a:pPr algn="l" marL="165100" indent="-165100">
              <a:spcAft>
                <a:spcPts val="800"/>
              </a:spcAft>
              <a:buFont typeface="Calibri"/>
              <a:buChar char="▪"/>
            </a:pPr>
            <a:r>
              <a:rPr sz="1150" b="0">
                <a:solidFill>
                  <a:srgbClr val="1E293B"/>
                </a:solidFill>
                <a:latin typeface="Calibri"/>
              </a:rPr>
              <a:t>Seasonal changeover parks the idle setpoint; a per-zone trim corrects each zone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84048" y="44074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00" b="0">
                <a:solidFill>
                  <a:srgbClr val="475569"/>
                </a:solidFill>
                <a:latin typeface="Calibri"/>
              </a:rPr>
              <a:t>VIABILITY AT SCALE   Buildings are ~40% of global energy — a single-digit HVAC reduction is material at portfolio scale. The loop is model-agnostic, and a larger cognitive engine needs no change to the MCP tool layer.</a:t>
            </a:r>
          </a:p>
        </p:txBody>
      </p:sp>
      <p:pic>
        <p:nvPicPr>
          <p:cNvPr id="17422" name="Picture 17421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809744"/>
            <a:ext cx="11064240" cy="153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ounded Rectangle 17411"/>
          <p:cNvSpPr/>
          <p:nvPr/>
        </p:nvSpPr>
        <p:spPr>
          <a:xfrm>
            <a:off x="384048" y="914400"/>
            <a:ext cx="11430000" cy="1060704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 i="0">
                <a:solidFill>
                  <a:srgbClr val="1E3A8A"/>
                </a:solidFill>
                <a:latin typeface="Segoe U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568" y="987552"/>
            <a:ext cx="10424160" cy="1133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>
                <a:solidFill>
                  <a:srgbClr val="1E3A8A"/>
                </a:solidFill>
                <a:latin typeface="Consolas"/>
              </a:rPr>
              <a:t>github.com/ayushYadav1107/Eco_loop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50" b="0">
                <a:solidFill>
                  <a:srgbClr val="1E293B"/>
                </a:solidFill>
                <a:latin typeface="Calibri"/>
              </a:rPr>
              <a:t>Baseline and runtime-generated .idf models, the full agent decision trail (agent_decisions.jsonl), per-timestep EnergyPlus results and the savings dashboard are all committed — a fresh clone reproduces every figure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5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66928" y="106070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pic>
        <p:nvPicPr>
          <p:cNvPr id="17414" name="Picture 17413" descr="deci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67712"/>
            <a:ext cx="11064240" cy="410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" name="Rounded Rectangle 17418"/>
          <p:cNvSpPr/>
          <p:nvPr/>
        </p:nvSpPr>
        <p:spPr>
          <a:xfrm>
            <a:off x="6309360" y="4901184"/>
            <a:ext cx="5504688" cy="1280160"/>
          </a:xfrm>
          <a:prstGeom prst="roundRect">
            <a:avLst>
              <a:gd name="adj" fmla="val 3000"/>
            </a:avLst>
          </a:prstGeom>
          <a:solidFill>
            <a:srgbClr val="F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6309360" y="3236976"/>
            <a:ext cx="5504688" cy="1499616"/>
          </a:xfrm>
          <a:prstGeom prst="roundRect">
            <a:avLst>
              <a:gd name="adj" fmla="val 3000"/>
            </a:avLst>
          </a:prstGeom>
          <a:solidFill>
            <a:srgbClr val="ECF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6309360" y="969264"/>
            <a:ext cx="5504688" cy="2139696"/>
          </a:xfrm>
          <a:prstGeom prst="roundRect">
            <a:avLst>
              <a:gd name="adj" fmla="val 3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84048" y="969264"/>
            <a:ext cx="5760720" cy="46268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 i="0">
                <a:solidFill>
                  <a:srgbClr val="1E3A8A"/>
                </a:solidFill>
                <a:latin typeface="Segoe U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15568" y="1078992"/>
            <a:ext cx="4864608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50" b="1">
                <a:solidFill>
                  <a:srgbClr val="1E3A8A"/>
                </a:solidFill>
                <a:latin typeface="Segoe UI"/>
              </a:rPr>
              <a:t>SIMULATION &amp; BUILDING PHYSICS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00" b="0">
                <a:solidFill>
                  <a:srgbClr val="1E293B"/>
                </a:solidFill>
                <a:latin typeface="Calibri"/>
              </a:rPr>
              <a:t>EnergyPlus Engineering Reference · EMS Application Guide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00" b="0">
                <a:solidFill>
                  <a:srgbClr val="1E293B"/>
                </a:solidFill>
                <a:latin typeface="Calibri"/>
              </a:rPr>
              <a:t>pyenergyplus Data Exchange API — get_variable_handle, set_actuator_value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00" b="0">
                <a:solidFill>
                  <a:srgbClr val="1E293B"/>
                </a:solidFill>
                <a:latin typeface="Calibri"/>
              </a:rPr>
              <a:t>ISO 7730:2005 · ASHRAE Standard 55 — PMV/PPD comfort model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250" b="1">
                <a:solidFill>
                  <a:srgbClr val="1E3A8A"/>
                </a:solidFill>
                <a:latin typeface="Segoe UI"/>
              </a:rPr>
              <a:t>AGENT, PROTOCOL &amp; INFERENCE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00" b="0">
                <a:solidFill>
                  <a:srgbClr val="1E293B"/>
                </a:solidFill>
                <a:latin typeface="Calibri"/>
              </a:rPr>
              <a:t>Model Context Protocol — modelcontextprotocol.io · FastMCP — gofastmcp.com</a:t>
            </a:r>
          </a:p>
          <a:p>
            <a:pPr algn="l" marL="165100" indent="-165100">
              <a:spcAft>
                <a:spcPts val="600"/>
              </a:spcAft>
              <a:buFont typeface="Calibri"/>
              <a:buChar char="▪"/>
            </a:pPr>
            <a:r>
              <a:rPr sz="1100" b="0">
                <a:solidFill>
                  <a:srgbClr val="1E293B"/>
                </a:solidFill>
                <a:latin typeface="Calibri"/>
              </a:rPr>
              <a:t>Meta Llama 3.2 served locally through Ollama — ollama.com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6364224"/>
            <a:ext cx="1143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Echo-Loop   ·   6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66928" y="1097280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565392" y="1060704"/>
            <a:ext cx="49926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1E3A8A"/>
                </a:solidFill>
                <a:latin typeface="Segoe UI"/>
              </a:rPr>
              <a:t>REPRODUCE THE RESULT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1E293B"/>
                </a:solidFill>
                <a:latin typeface="Consolas"/>
              </a:rPr>
              <a:t>python main.py prepare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1E293B"/>
                </a:solidFill>
                <a:latin typeface="Consolas"/>
              </a:rPr>
              <a:t>python main.py run-baseline --start 07-15 --end 07-21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1E293B"/>
                </a:solidFill>
                <a:latin typeface="Consolas"/>
              </a:rPr>
              <a:t>python main.py run-ai --start 07-15 --end 07-21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1E293B"/>
                </a:solidFill>
                <a:latin typeface="Consolas"/>
              </a:rPr>
              <a:t>python main.py dashboard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565392" y="3328416"/>
            <a:ext cx="499262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250" b="1">
                <a:solidFill>
                  <a:srgbClr val="16A34A"/>
                </a:solidFill>
                <a:latin typeface="Segoe UI"/>
              </a:rPr>
              <a:t>AUDITABLE, NOT ANECDOTAL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100" b="0">
                <a:solidFill>
                  <a:srgbClr val="1E293B"/>
                </a:solidFill>
                <a:latin typeface="Calibri"/>
              </a:rPr>
              <a:t>The controller runs at temperature 0, so repeated runs return identical totals. Anyone can clone the repo and reproduce these exact figures.</a:t>
            </a:r>
          </a:p>
        </p:txBody>
      </p:sp>
      <p:pic>
        <p:nvPicPr>
          <p:cNvPr id="17418" name="Picture 17417" descr="comfor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54096"/>
            <a:ext cx="5285232" cy="238268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565392" y="4992624"/>
            <a:ext cx="4992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250" b="1">
                <a:solidFill>
                  <a:srgbClr val="EA580C"/>
                </a:solidFill>
                <a:latin typeface="Segoe UI"/>
              </a:rPr>
              <a:t>HONEST LIMITATION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100" b="0">
                <a:solidFill>
                  <a:srgbClr val="1E293B"/>
                </a:solidFill>
                <a:latin typeface="Calibri"/>
              </a:rPr>
              <a:t>One setpoint pair drives five zones — per zone the agent holds 85–96% of occupied time in band. Per-zone setpoints are next; the actuator handles are already in place.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