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yushYadav1107/Eco_loop" TargetMode="External"/><Relationship Id="rId3" Type="http://schemas.openxmlformats.org/officeDocument/2006/relationships/hyperlink" Target="https://eco-loop-agents.streamlit.ap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ayushYadav1107/Eco_loop" TargetMode="External"/><Relationship Id="rId4" Type="http://schemas.openxmlformats.org/officeDocument/2006/relationships/hyperlink" Target="https://eco-loop-agents.streamlit.app/" TargetMode="External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731520" y="1865376"/>
            <a:ext cx="10698480" cy="859536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Echo-Loop: A Building That Runs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50" b="1">
                <a:solidFill>
                  <a:srgbClr val="CBD5E1"/>
                </a:solidFill>
                <a:latin typeface="Segoe UI"/>
              </a:rPr>
              <a:t>Autonomous closed-loop HVAC control using EnergyPlus, MCP and a local open-source LLM.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10149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50" b="0">
                <a:solidFill>
                  <a:srgbClr val="F1F5F9"/>
                </a:solidFill>
                <a:latin typeface="Segoe UI"/>
              </a:rPr>
              <a:t>EnergyPlus supplies the physics. A local open-source LLM supplies the judgement. The Model Context Protocol carries every reading and every command between them — while the simulation is still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4000" b="0">
                <a:solidFill>
                  <a:srgbClr val="22E88A"/>
                </a:solidFill>
                <a:latin typeface="Segoe UI Semibold"/>
              </a:rPr>
              <a:t>−8.5%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HVAC Energy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Saved over a summer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92608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3600" b="0">
                <a:solidFill>
                  <a:srgbClr val="60A5FA"/>
                </a:solidFill>
                <a:latin typeface="Segoe UI Semibold"/>
              </a:rPr>
              <a:t>336 / 336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56616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Agent Turns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Zero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4000" b="0">
                <a:solidFill>
                  <a:srgbClr val="22E88A"/>
                </a:solidFill>
                <a:latin typeface="Segoe UI Semibold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6616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Open Source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One laptop — no cloud, no API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61104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1">
                <a:solidFill>
                  <a:srgbClr val="F59E0B"/>
                </a:solidFill>
                <a:latin typeface="Segoe UI"/>
              </a:rPr>
              <a:t>Problem Statement ID  &lt;&lt;FILL IN&gt;&gt;      ·      Theme  &lt;&lt;FILL IN&gt;&gt;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50" b="0">
                <a:solidFill>
                  <a:srgbClr val="CBD5E1"/>
                </a:solidFill>
                <a:latin typeface="Segoe UI"/>
              </a:rPr>
              <a:t>PS Category  Software      ·      Student  Ayush Yadav      ·      Student ID  &lt;&lt;FILL IN&gt;&gt;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261104"/>
            <a:ext cx="3776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100">
                <a:solidFill>
                  <a:srgbClr val="93A7BD"/>
                </a:solidFill>
                <a:latin typeface="Segoe UI"/>
              </a:rPr>
              <a:t>Repository   </a:t>
            </a:r>
            <a:r>
              <a:rPr sz="1100" b="0">
                <a:solidFill>
                  <a:srgbClr val="60A5FA"/>
                </a:solidFill>
                <a:latin typeface="Segoe UI"/>
                <a:hlinkClick r:id="rId2"/>
              </a:rPr>
              <a:t>github.com/ayushYadav1107/Eco_loop</a:t>
            </a:r>
          </a:p>
          <a:p>
            <a:pPr algn="r" marL="0" indent="0">
              <a:buNone/>
            </a:pPr>
            <a:r>
              <a:rPr sz="1100">
                <a:solidFill>
                  <a:srgbClr val="93A7BD"/>
                </a:solidFill>
                <a:latin typeface="Segoe UI"/>
              </a:rPr>
              <a:t>Live demo   </a:t>
            </a:r>
            <a:r>
              <a:rPr sz="1100" b="0">
                <a:solidFill>
                  <a:srgbClr val="60A5FA"/>
                </a:solidFill>
                <a:latin typeface="Segoe UI"/>
                <a:hlinkClick r:id="rId3"/>
              </a:rPr>
              <a:t>eco-loop-agents.streamlit.app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24128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60A5FA"/>
                </a:solidFill>
                <a:latin typeface="Segoe UI"/>
              </a:rPr>
              <a:t>ENERGYPLUS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5029200"/>
            <a:ext cx="3291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93A7BD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5029200"/>
            <a:ext cx="949147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60A5FA"/>
                </a:solidFill>
                <a:latin typeface="Segoe UI"/>
              </a:rPr>
              <a:t>MCP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0555" y="5029200"/>
            <a:ext cx="3291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93A7BD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9739" y="5029200"/>
            <a:ext cx="949147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2E88A"/>
                </a:solidFill>
                <a:latin typeface="Segoe UI"/>
              </a:rPr>
              <a:t>LOCAL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7174" y="5029200"/>
            <a:ext cx="3291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93A7BD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6358" y="5029200"/>
            <a:ext cx="1099108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SAFETY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3755" y="5029200"/>
            <a:ext cx="3291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200" b="0">
                <a:solidFill>
                  <a:srgbClr val="93A7BD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2939" y="5029200"/>
            <a:ext cx="1324051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60A5FA"/>
                </a:solidFill>
                <a:latin typeface="Segoe UI"/>
              </a:rPr>
              <a:t>LIVE ACTUATORS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6446" y="5056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050" b="0">
                <a:solidFill>
                  <a:srgbClr val="93A7BD"/>
                </a:solidFill>
                <a:latin typeface="Segoe UI"/>
              </a:rPr>
              <a:t>one closed loop, every 60 simulated minutes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77840"/>
            <a:ext cx="1399032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ENERGYPLUS 26.1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9424" y="5577840"/>
            <a:ext cx="1174089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PYENERGYPLUS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42385" y="5577840"/>
            <a:ext cx="799185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FASTMCP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0443" y="5577840"/>
            <a:ext cx="1923897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MODEL CONTEXT PROTOCOL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03212" y="5577840"/>
            <a:ext cx="1848916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OLLAMA + LLAMA 3.2 3B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71001" y="5577840"/>
            <a:ext cx="874166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PYDANTIC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5577840"/>
            <a:ext cx="949147" cy="246888"/>
          </a:xfrm>
          <a:prstGeom prst="roundRect">
            <a:avLst>
              <a:gd name="adj" fmla="val 50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93A7BD"/>
                </a:solidFill>
                <a:latin typeface="Segoe UI"/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8010144" y="5029200"/>
            <a:ext cx="3456432" cy="1188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70832" y="5029200"/>
            <a:ext cx="3456432" cy="1188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456432" cy="1188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36792" y="3803904"/>
            <a:ext cx="5120640" cy="1060704"/>
          </a:xfrm>
          <a:prstGeom prst="roundRect">
            <a:avLst>
              <a:gd name="adj" fmla="val 4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IDEA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Traditional BMS follow rigid clock schedules.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50" b="1">
                <a:solidFill>
                  <a:srgbClr val="CBD5E1"/>
                </a:solidFill>
                <a:latin typeface="Segoe UI"/>
              </a:rPr>
              <a:t>Echo-Loop turns the building into a self-correcting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EnergyPlus runs in-process; sensors read every zone timestep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Every 60 simulated minutes the state reaches a local LLM via six MCP tools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The model weighs comfort, demand and grid carbon, then returns setpoints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039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Why It's Different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33087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50" b="0">
                <a:solidFill>
                  <a:srgbClr val="CBD5E1"/>
                </a:solidFill>
                <a:latin typeface="Segoe UI"/>
              </a:rPr>
              <a:t>Most LLM-and-simulation work rewrites the model file and re-runs it — it cannot react to a zone drifting out of comfort at 14:00 on day 3. Echo-Loop does.</a:t>
            </a:r>
          </a:p>
        </p:txBody>
      </p:sp>
      <p:pic>
        <p:nvPicPr>
          <p:cNvPr id="11" name="Picture 10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865376"/>
            <a:ext cx="5120640" cy="1734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4536" y="3913632"/>
            <a:ext cx="46634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900" b="1">
                <a:solidFill>
                  <a:srgbClr val="93A7BD"/>
                </a:solidFill>
                <a:latin typeface="Segoe UI"/>
              </a:rPr>
              <a:t>ONE LINE FROM A LIVE RUN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50" b="0">
                <a:solidFill>
                  <a:srgbClr val="60A5FA"/>
                </a:solidFill>
                <a:latin typeface="Consolas"/>
              </a:rPr>
              <a:t>[ai 07-17 09:00] OAT=24.9C PMV=-1.02 kW=2.09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50" b="0">
                <a:solidFill>
                  <a:srgbClr val="22E88A"/>
                </a:solidFill>
                <a:latin typeface="Consolas"/>
              </a:rPr>
              <a:t>   -&gt; cool=24.8 heat=19.2 (llm, 1.3s)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120640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60A5FA"/>
                </a:solidFill>
                <a:latin typeface="Segoe UI Semibold"/>
              </a:rPr>
              <a:t>Injected into the LIVE solver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100" b="0">
                <a:solidFill>
                  <a:srgbClr val="CBD5E1"/>
                </a:solidFill>
                <a:latin typeface="Segoe UI"/>
              </a:rPr>
              <a:t>No IDF rewrite, no restart.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93A7BD"/>
                </a:solidFill>
                <a:latin typeface="Segoe UI"/>
              </a:rPr>
              <a:t>Setpoints reach the actuator handles mid-solve.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5120640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F59E0B"/>
                </a:solidFill>
                <a:latin typeface="Segoe UI Semibold"/>
              </a:rPr>
              <a:t>Safety Boundary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100" b="0">
                <a:solidFill>
                  <a:srgbClr val="CBD5E1"/>
                </a:solidFill>
                <a:latin typeface="Segoe UI"/>
              </a:rPr>
              <a:t>MCP validates every command server-side.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93A7BD"/>
                </a:solidFill>
                <a:latin typeface="Segoe UI"/>
              </a:rPr>
              <a:t>Five gates; a rejected command never reaches the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120640"/>
            <a:ext cx="3035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250" b="0">
                <a:solidFill>
                  <a:srgbClr val="22E88A"/>
                </a:solidFill>
                <a:latin typeface="Segoe UI Semibold"/>
              </a:rPr>
              <a:t>Measured, Not Projected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100" b="0">
                <a:solidFill>
                  <a:srgbClr val="CBD5E1"/>
                </a:solidFill>
                <a:latin typeface="Segoe UI"/>
              </a:rPr>
              <a:t>PMV −0.43 → −0.02 while saving 8.5%.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93A7BD"/>
                </a:solidFill>
                <a:latin typeface="Segoe UI"/>
              </a:rPr>
              <a:t>Both runs are committed EnergyPlus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The Closed Loop Architecture</a:t>
            </a:r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609344"/>
            <a:ext cx="9052560" cy="3354558"/>
          </a:xfrm>
          <a:prstGeom prst="rect">
            <a:avLst/>
          </a:prstGeom>
        </p:spPr>
      </p:pic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9744"/>
            <a:ext cx="10698480" cy="11388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017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Sample  →  Aggregate  →  LLM tool-calling turn  →  Validate gate  →  Inject into live actuators via the pyenergyplus C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Feasibility and Overcoming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3400" b="0">
                <a:solidFill>
                  <a:srgbClr val="22E88A"/>
                </a:solidFill>
                <a:latin typeface="Segoe UI Semibold"/>
              </a:rPr>
              <a:t>336 / 336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39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Agent Turns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0 fallbacks · 0 timeouts · 0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3400" b="0">
                <a:solidFill>
                  <a:srgbClr val="22E88A"/>
                </a:solidFill>
                <a:latin typeface="Segoe UI Semibold"/>
              </a:rPr>
              <a:t>−3.7%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39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Winter Energy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Same loop, heating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2918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3400" b="0">
                <a:solidFill>
                  <a:srgbClr val="60A5FA"/>
                </a:solidFill>
                <a:latin typeface="Segoe UI Semibold"/>
              </a:rPr>
              <a:t>2.1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77439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F1F5F9"/>
                </a:solidFill>
                <a:latin typeface="Segoe UI Semibold"/>
              </a:rPr>
              <a:t>Median Latency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100" b="0">
                <a:solidFill>
                  <a:srgbClr val="93A7BD"/>
                </a:solidFill>
                <a:latin typeface="Segoe UI"/>
              </a:rPr>
              <a:t>Fully on-device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F59E0B"/>
                </a:solidFill>
                <a:latin typeface="Segoe UI Semibold"/>
              </a:rPr>
              <a:t>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1206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LLM latency inside a blocking simulation callback</a:t>
            </a:r>
          </a:p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A small model can move the wrong setpoint, or run heating against cooling</a:t>
            </a:r>
          </a:p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One setpoint pair cannot satisfy five differently-loaded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22E88A"/>
                </a:solidFill>
                <a:latin typeface="Segoe UI Semibold"/>
              </a:rPr>
              <a:t>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401568"/>
            <a:ext cx="51206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Hard per-turn deadline; on timeout the loop holds the last accepted command</a:t>
            </a:r>
          </a:p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Observations state the required direction — the model cannot invert physics</a:t>
            </a:r>
          </a:p>
          <a:p>
            <a:pPr algn="l" marL="150000" indent="-150000">
              <a:spcAft>
                <a:spcPts val="10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Seasonal changeover parks the idle setpoint; a per-zone trim corrects each zone</a:t>
            </a:r>
          </a:p>
        </p:txBody>
      </p:sp>
      <p:pic>
        <p:nvPicPr>
          <p:cNvPr id="16" name="Picture 1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73168"/>
            <a:ext cx="10241280" cy="142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6336792" y="5230368"/>
            <a:ext cx="5120640" cy="969264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896112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Artifacts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10149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F1F5F9"/>
                </a:solidFill>
                <a:latin typeface="Segoe UI Semibold"/>
              </a:rPr>
              <a:t>Repository   </a:t>
            </a:r>
            <a:r>
              <a:rPr sz="1250" b="1">
                <a:solidFill>
                  <a:srgbClr val="60A5FA"/>
                </a:solidFill>
                <a:latin typeface="Consolas"/>
                <a:hlinkClick r:id="rId3"/>
              </a:rPr>
              <a:t>github.com/ayushYadav1107/Eco_loop</a:t>
            </a:r>
            <a:r>
              <a:rPr sz="1250">
                <a:solidFill>
                  <a:srgbClr val="F1F5F9"/>
                </a:solidFill>
                <a:latin typeface="Segoe UI Semibold"/>
              </a:rPr>
              <a:t>        Live demo   </a:t>
            </a:r>
            <a:r>
              <a:rPr sz="1250" b="1">
                <a:solidFill>
                  <a:srgbClr val="60A5FA"/>
                </a:solidFill>
                <a:latin typeface="Consolas"/>
                <a:hlinkClick r:id="rId4"/>
              </a:rPr>
              <a:t>eco-loop-agents.streamlit.app</a:t>
            </a:r>
          </a:p>
          <a:p>
            <a:pPr marL="0" indent="0">
              <a:buNone/>
            </a:pPr>
            <a:r>
              <a:rPr sz="1100">
                <a:solidFill>
                  <a:srgbClr val="CBD5E1"/>
                </a:solidFill>
                <a:latin typeface="Segoe UI"/>
              </a:rPr>
              <a:t>Baseline and runtime-generated .idf models, agent_decisions.jsonl and per-timestep EnergyPlus results are all committed — a fresh clone reproduces every figure in this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95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60A5FA"/>
                </a:solidFill>
                <a:latin typeface="Segoe UI Semibold"/>
              </a:rPr>
              <a:t>Simulation &amp; Building 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51206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EnergyPlus Engineering Reference &amp; EMS Application Guide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pyenergyplus Data Exchange API — get_variable_handle, set_actuator_value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ISO 7730:2005 &amp; ASHRAE Standard 55 — PMV/PPD comfort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90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60A5FA"/>
                </a:solidFill>
                <a:latin typeface="Segoe UI Semibold"/>
              </a:rPr>
              <a:t>Agent, Protocol &amp;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19472"/>
            <a:ext cx="51206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Model Context Protocol — modelcontextprotocol.io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FastMCP — gofastmcp.com</a:t>
            </a:r>
          </a:p>
          <a:p>
            <a:pPr algn="l" marL="150000" indent="-150000">
              <a:spcAft>
                <a:spcPts val="8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Meta Llama 3.2 served locally through Ollama — ollama.com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8895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22E88A"/>
                </a:solidFill>
                <a:latin typeface="Segoe UI Semibold"/>
              </a:rPr>
              <a:t>168 setpoint decisions, one summer week</a:t>
            </a:r>
          </a:p>
        </p:txBody>
      </p:sp>
      <p:pic>
        <p:nvPicPr>
          <p:cNvPr id="13" name="Picture 12" descr="decis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218688"/>
            <a:ext cx="5120640" cy="18975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74536" y="5340096"/>
            <a:ext cx="4663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sz="1150" b="0">
                <a:solidFill>
                  <a:srgbClr val="F1F5F9"/>
                </a:solidFill>
                <a:latin typeface="Segoe UI Semibold"/>
              </a:rPr>
              <a:t>Every decision is logged with the model's own reason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50" b="0">
                <a:solidFill>
                  <a:srgbClr val="93A7BD"/>
                </a:solidFill>
                <a:latin typeface="Segoe UI"/>
              </a:rPr>
              <a:t>outputs/ai/agent_decisions.jsonl — committed, one JSON record per control interval.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336792" y="3913632"/>
            <a:ext cx="5120640" cy="21031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20640" cy="1700784"/>
          </a:xfrm>
          <a:prstGeom prst="roundRect">
            <a:avLst>
              <a:gd name="adj" fmla="val 4000"/>
            </a:avLst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731520" y="6345936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3A7BD"/>
                </a:solidFill>
                <a:latin typeface="Segoe UI"/>
              </a:rPr>
              <a:t>Echo-Loop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45936"/>
            <a:ext cx="36850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E88A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64008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000" b="1">
                <a:solidFill>
                  <a:srgbClr val="22E88A"/>
                </a:solidFill>
                <a:latin typeface="Segoe UI"/>
              </a:rP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Segoe UI Semibold"/>
              </a:rPr>
              <a:t>Auditable, Not Anecdotal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150" b="1">
                <a:solidFill>
                  <a:srgbClr val="CBD5E1"/>
                </a:solidFill>
                <a:latin typeface="Segoe UI"/>
              </a:rPr>
              <a:t>The controller runs at temperature 0 — repeated runs return identical totals. Anyone can clone the repo and reproduce these exact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39696"/>
            <a:ext cx="466344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00" b="0">
                <a:solidFill>
                  <a:srgbClr val="22E88A"/>
                </a:solidFill>
                <a:latin typeface="Consolas"/>
              </a:rPr>
              <a:t>python main.py prepare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>
                <a:solidFill>
                  <a:srgbClr val="22E88A"/>
                </a:solidFill>
                <a:latin typeface="Consolas"/>
              </a:rPr>
              <a:t>python main.py run-baseline --start 07-15 --end 07-21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>
                <a:solidFill>
                  <a:srgbClr val="22E88A"/>
                </a:solidFill>
                <a:latin typeface="Consolas"/>
              </a:rPr>
              <a:t>python main.py run-ai --start 07-15 --end 07-21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>
                <a:solidFill>
                  <a:srgbClr val="22E88A"/>
                </a:solidFill>
                <a:latin typeface="Consolas"/>
              </a:rPr>
              <a:t>python main.py dashboard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000" b="0">
                <a:solidFill>
                  <a:srgbClr val="93A7BD"/>
                </a:solidFill>
                <a:latin typeface="Consolas"/>
              </a:rPr>
              <a:t># ~6 min end to end on a laptop — EnergyPlus 26.1 + Ollama,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000" b="0">
                <a:solidFill>
                  <a:srgbClr val="93A7BD"/>
                </a:solidFill>
                <a:latin typeface="Consolas"/>
              </a:rPr>
              <a:t># no cloud, no API key, no paid service anywhere in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011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Four Commands. Full Reproduction.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340864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50000" indent="-150000">
              <a:spcAft>
                <a:spcPts val="7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prepare — stage and instrument the EnergyPlus model</a:t>
            </a:r>
          </a:p>
          <a:p>
            <a:pPr algn="l" marL="150000" indent="-150000">
              <a:spcAft>
                <a:spcPts val="7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run-baseline — the same building on its native schedule</a:t>
            </a:r>
          </a:p>
          <a:p>
            <a:pPr algn="l" marL="150000" indent="-150000">
              <a:spcAft>
                <a:spcPts val="7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run-ai — the closed loop, 168 agent decisions</a:t>
            </a:r>
          </a:p>
          <a:p>
            <a:pPr algn="l" marL="150000" indent="-150000">
              <a:spcAft>
                <a:spcPts val="700"/>
              </a:spcAft>
              <a:buFont typeface="Segoe UI"/>
              <a:buChar char="▪"/>
            </a:pPr>
            <a:r>
              <a:rPr sz="1150" b="0">
                <a:solidFill>
                  <a:srgbClr val="CBD5E1"/>
                </a:solidFill>
                <a:latin typeface="Segoe UI"/>
              </a:rPr>
              <a:t>dashboard — the savings comparison, side by side</a:t>
            </a:r>
          </a:p>
        </p:txBody>
      </p:sp>
      <p:pic>
        <p:nvPicPr>
          <p:cNvPr id="11" name="Picture 10" descr="comfor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13632"/>
            <a:ext cx="5120640" cy="2308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4536" y="4041648"/>
            <a:ext cx="464515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1250" b="0">
                <a:solidFill>
                  <a:srgbClr val="F59E0B"/>
                </a:solidFill>
                <a:latin typeface="Segoe UI Semibold"/>
              </a:rPr>
              <a:t>Honest limitation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150" b="0">
                <a:solidFill>
                  <a:srgbClr val="CBD5E1"/>
                </a:solidFill>
                <a:latin typeface="Segoe UI"/>
              </a:rPr>
              <a:t>One setpoint pair drives five differently-loaded zones. Per zone the agent holds 85–96% of occupied time inside the PMV band; the stricter worst-zone metric is lower.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150" b="0">
                <a:solidFill>
                  <a:srgbClr val="93A7BD"/>
                </a:solidFill>
                <a:latin typeface="Segoe UI"/>
              </a:rPr>
              <a:t>Per-zone setpoints are the next step — the actuator handles and per-zone PMV are already in place.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050" b="0">
                <a:solidFill>
                  <a:srgbClr val="60A5FA"/>
                </a:solidFill>
                <a:latin typeface="Segoe UI"/>
              </a:rPr>
              <a:t>Stated in full in ARCHITECTURE.md §8 — nothing here is hidden.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0A5FA"/>
      </a:hlink>
      <a:folHlink>
        <a:srgbClr val="93A7B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