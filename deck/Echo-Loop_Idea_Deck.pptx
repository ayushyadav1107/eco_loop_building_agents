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8" r:id="rId3"/>
    <p:sldId id="281" r:id="rId4"/>
    <p:sldId id="290" r:id="rId5"/>
    <p:sldId id="293" r:id="rId6"/>
    <p:sldId id="299" r:id="rId7"/>
    <p:sldId id="296" r:id="rId8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1" d="100"/>
          <a:sy n="101" d="100"/>
        </p:scale>
        <p:origin x="876" y="108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7/24/2026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49F277-D966-5891-8E8E-FE1852E6B4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>
            <a:extLst>
              <a:ext uri="{FF2B5EF4-FFF2-40B4-BE49-F238E27FC236}">
                <a16:creationId xmlns:a16="http://schemas.microsoft.com/office/drawing/2014/main" id="{63166A99-EAE2-2E28-993F-D5871297B24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>
            <a:extLst>
              <a:ext uri="{FF2B5EF4-FFF2-40B4-BE49-F238E27FC236}">
                <a16:creationId xmlns:a16="http://schemas.microsoft.com/office/drawing/2014/main" id="{4ED88F3D-7791-59C8-716F-0AAD4C669A9A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>
            <a:extLst>
              <a:ext uri="{FF2B5EF4-FFF2-40B4-BE49-F238E27FC236}">
                <a16:creationId xmlns:a16="http://schemas.microsoft.com/office/drawing/2014/main" id="{CC82298B-112C-33CB-5F98-D6F1C4A4C6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17305133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7/24/2026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7/24/2026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7/24/2026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7/24/2026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7/24/2026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7/24/2026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7/24/2026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7/24/2026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7/24/2026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7/24/2026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7/24/2026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7/24/2026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https://github.com/ayushYadav1107/Eco_loop" TargetMode="External"/><Relationship Id="rId3" Type="http://schemas.openxmlformats.org/officeDocument/2006/relationships/hyperlink" Target="https://eco-loop-agents.streamlit.app/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github.com/ayushYadav1107/Eco_loop" TargetMode="External"/><Relationship Id="rId4" Type="http://schemas.openxmlformats.org/officeDocument/2006/relationships/hyperlink" Target="https://eco-loop-agents.streamlit.app/" TargetMode="External"/><Relationship Id="rId5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/Relationships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6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ounded Rectangle 6"/>
          <p:cNvSpPr/>
          <p:nvPr/>
        </p:nvSpPr>
        <p:spPr>
          <a:xfrm>
            <a:off x="731520" y="1865376"/>
            <a:ext cx="10698480" cy="859536"/>
          </a:xfrm>
          <a:prstGeom prst="roundRect">
            <a:avLst>
              <a:gd name="adj" fmla="val 4000"/>
            </a:avLst>
          </a:prstGeom>
          <a:solidFill>
            <a:srgbClr val="162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" name="TextBox 1"/>
          <p:cNvSpPr txBox="1"/>
          <p:nvPr/>
        </p:nvSpPr>
        <p:spPr>
          <a:xfrm>
            <a:off x="731520" y="6345936"/>
            <a:ext cx="3657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>
                <a:solidFill>
                  <a:srgbClr val="93A7BD"/>
                </a:solidFill>
                <a:latin typeface="Segoe UI"/>
              </a:rPr>
              <a:t>Echo-Loop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6345936"/>
            <a:ext cx="3685032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22E88A"/>
                </a:solidFill>
                <a:latin typeface="Segoe UI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12064"/>
            <a:ext cx="64008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 algn="l"/>
            <a:r>
              <a:rPr sz="1000" b="1">
                <a:solidFill>
                  <a:srgbClr val="22E88A"/>
                </a:solidFill>
                <a:latin typeface="Segoe UI"/>
              </a:rPr>
              <a:t>AUTONOMOUS BUILDING ENERGY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32688"/>
            <a:ext cx="106984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sz="2700" b="0">
                <a:solidFill>
                  <a:srgbClr val="FFFFFF"/>
                </a:solidFill>
                <a:latin typeface="Segoe UI Semibold"/>
              </a:rPr>
              <a:t>Echo-Loop: A Building That Runs Itself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444752"/>
            <a:ext cx="106984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sz="1150" b="1">
                <a:solidFill>
                  <a:srgbClr val="CBD5E1"/>
                </a:solidFill>
                <a:latin typeface="Segoe UI"/>
              </a:rPr>
              <a:t>Autonomous closed-loop HVAC control using EnergyPlus, MCP and a local open-source LLM.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7552" y="1956816"/>
            <a:ext cx="1014984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sz="1250" b="0">
                <a:solidFill>
                  <a:srgbClr val="F1F5F9"/>
                </a:solidFill>
                <a:latin typeface="Segoe UI"/>
              </a:rPr>
              <a:t>EnergyPlus supplies the physics. A local open-source LLM supplies the judgement. The Model Context Protocol carries every reading and every command between them — while the simulation is still running.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926080"/>
            <a:ext cx="3291840" cy="67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sz="4000" b="0">
                <a:solidFill>
                  <a:srgbClr val="22E88A"/>
                </a:solidFill>
                <a:latin typeface="Segoe UI Semibold"/>
              </a:rPr>
              <a:t>−8.5%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566160"/>
            <a:ext cx="32918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0" indent="0">
              <a:spcAft>
                <a:spcPts val="200"/>
              </a:spcAft>
              <a:buNone/>
            </a:pPr>
            <a:r>
              <a:rPr sz="1300" b="0">
                <a:solidFill>
                  <a:srgbClr val="F1F5F9"/>
                </a:solidFill>
                <a:latin typeface="Segoe UI Semibold"/>
              </a:rPr>
              <a:t>HVAC Energy</a:t>
            </a:r>
          </a:p>
          <a:p>
            <a:pPr algn="l" marL="0" indent="0">
              <a:spcAft>
                <a:spcPts val="200"/>
              </a:spcAft>
              <a:buNone/>
            </a:pPr>
            <a:r>
              <a:rPr sz="1100" b="0">
                <a:solidFill>
                  <a:srgbClr val="93A7BD"/>
                </a:solidFill>
                <a:latin typeface="Segoe UI"/>
              </a:rPr>
              <a:t>Saved over a summer week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34840" y="2926080"/>
            <a:ext cx="3291840" cy="67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sz="3600" b="0">
                <a:solidFill>
                  <a:srgbClr val="60A5FA"/>
                </a:solidFill>
                <a:latin typeface="Segoe UI Semibold"/>
              </a:rPr>
              <a:t>336 / 336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4840" y="3566160"/>
            <a:ext cx="32918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0" indent="0">
              <a:spcAft>
                <a:spcPts val="200"/>
              </a:spcAft>
              <a:buNone/>
            </a:pPr>
            <a:r>
              <a:rPr sz="1300" b="0">
                <a:solidFill>
                  <a:srgbClr val="F1F5F9"/>
                </a:solidFill>
                <a:latin typeface="Segoe UI Semibold"/>
              </a:rPr>
              <a:t>Agent Turns</a:t>
            </a:r>
          </a:p>
          <a:p>
            <a:pPr algn="l" marL="0" indent="0">
              <a:spcAft>
                <a:spcPts val="200"/>
              </a:spcAft>
              <a:buNone/>
            </a:pPr>
            <a:r>
              <a:rPr sz="1100" b="0">
                <a:solidFill>
                  <a:srgbClr val="93A7BD"/>
                </a:solidFill>
                <a:latin typeface="Segoe UI"/>
              </a:rPr>
              <a:t>Zero failures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0" y="2926080"/>
            <a:ext cx="3291840" cy="67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sz="4000" b="0">
                <a:solidFill>
                  <a:srgbClr val="22E88A"/>
                </a:solidFill>
                <a:latin typeface="Segoe UI Semibold"/>
              </a:rPr>
              <a:t>100%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38160" y="3566160"/>
            <a:ext cx="32918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0" indent="0">
              <a:spcAft>
                <a:spcPts val="200"/>
              </a:spcAft>
              <a:buNone/>
            </a:pPr>
            <a:r>
              <a:rPr sz="1300" b="0">
                <a:solidFill>
                  <a:srgbClr val="F1F5F9"/>
                </a:solidFill>
                <a:latin typeface="Segoe UI Semibold"/>
              </a:rPr>
              <a:t>Open Source</a:t>
            </a:r>
          </a:p>
          <a:p>
            <a:pPr algn="l" marL="0" indent="0">
              <a:spcAft>
                <a:spcPts val="200"/>
              </a:spcAft>
              <a:buNone/>
            </a:pPr>
            <a:r>
              <a:rPr sz="1100" b="0">
                <a:solidFill>
                  <a:srgbClr val="93A7BD"/>
                </a:solidFill>
                <a:latin typeface="Segoe UI"/>
              </a:rPr>
              <a:t>One laptop — no cloud, no API keys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261104"/>
            <a:ext cx="6675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0" indent="0">
              <a:spcAft>
                <a:spcPts val="600"/>
              </a:spcAft>
              <a:buNone/>
            </a:pPr>
            <a:r>
              <a:rPr sz="1150" b="1">
                <a:solidFill>
                  <a:srgbClr val="F1F5F9"/>
                </a:solidFill>
                <a:latin typeface="Segoe UI"/>
              </a:rPr>
              <a:t>Problem Statement ID  1      ·      Theme  Clean &amp; Green Technology</a:t>
            </a:r>
          </a:p>
          <a:p>
            <a:pPr algn="l" marL="0" indent="0">
              <a:spcAft>
                <a:spcPts val="600"/>
              </a:spcAft>
              <a:buNone/>
            </a:pPr>
            <a:r>
              <a:rPr sz="1150" b="0">
                <a:solidFill>
                  <a:srgbClr val="CBD5E1"/>
                </a:solidFill>
                <a:latin typeface="Segoe UI"/>
              </a:rPr>
              <a:t>PS Category  Software      ·      Student  Ayush Yadav      ·      Student ID  23BAI10006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4261104"/>
            <a:ext cx="377647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marL="0" indent="0">
              <a:buNone/>
            </a:pPr>
            <a:r>
              <a:rPr sz="1100">
                <a:solidFill>
                  <a:srgbClr val="93A7BD"/>
                </a:solidFill>
                <a:latin typeface="Segoe UI"/>
              </a:rPr>
              <a:t>Repository   </a:t>
            </a:r>
            <a:r>
              <a:rPr sz="1100" b="0">
                <a:solidFill>
                  <a:srgbClr val="60A5FA"/>
                </a:solidFill>
                <a:latin typeface="Segoe UI"/>
                <a:hlinkClick r:id="rId2"/>
              </a:rPr>
              <a:t>github.com/ayushYadav1107/Eco_loop</a:t>
            </a:r>
          </a:p>
          <a:p>
            <a:pPr algn="r" marL="0" indent="0">
              <a:buNone/>
            </a:pPr>
            <a:r>
              <a:rPr sz="1100">
                <a:solidFill>
                  <a:srgbClr val="93A7BD"/>
                </a:solidFill>
                <a:latin typeface="Segoe UI"/>
              </a:rPr>
              <a:t>Live demo   </a:t>
            </a:r>
            <a:r>
              <a:rPr sz="1100" b="0">
                <a:solidFill>
                  <a:srgbClr val="60A5FA"/>
                </a:solidFill>
                <a:latin typeface="Segoe UI"/>
                <a:hlinkClick r:id="rId3"/>
              </a:rPr>
              <a:t>eco-loop-agents.streamlit.app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5029200"/>
            <a:ext cx="1024128" cy="246888"/>
          </a:xfrm>
          <a:prstGeom prst="roundRect">
            <a:avLst>
              <a:gd name="adj" fmla="val 50000"/>
            </a:avLst>
          </a:prstGeom>
          <a:solidFill>
            <a:srgbClr val="1B2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60A5FA"/>
                </a:solidFill>
                <a:latin typeface="Segoe UI"/>
              </a:rPr>
              <a:t>ENERGYPLUS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73936" y="5029200"/>
            <a:ext cx="329184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sz="1200" b="0">
                <a:solidFill>
                  <a:srgbClr val="93A7BD"/>
                </a:solidFill>
                <a:latin typeface="Segoe UI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103120" y="5029200"/>
            <a:ext cx="949147" cy="246888"/>
          </a:xfrm>
          <a:prstGeom prst="roundRect">
            <a:avLst>
              <a:gd name="adj" fmla="val 50000"/>
            </a:avLst>
          </a:prstGeom>
          <a:solidFill>
            <a:srgbClr val="1B2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60A5FA"/>
                </a:solidFill>
                <a:latin typeface="Segoe UI"/>
              </a:rPr>
              <a:t>MCP TOOLS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70555" y="5029200"/>
            <a:ext cx="329184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sz="1200" b="0">
                <a:solidFill>
                  <a:srgbClr val="93A7BD"/>
                </a:solidFill>
                <a:latin typeface="Segoe UI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399739" y="5029200"/>
            <a:ext cx="949147" cy="246888"/>
          </a:xfrm>
          <a:prstGeom prst="roundRect">
            <a:avLst>
              <a:gd name="adj" fmla="val 50000"/>
            </a:avLst>
          </a:prstGeom>
          <a:solidFill>
            <a:srgbClr val="1B2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22E88A"/>
                </a:solidFill>
                <a:latin typeface="Segoe UI"/>
              </a:rPr>
              <a:t>LOCAL LLM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67174" y="5029200"/>
            <a:ext cx="329184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sz="1200" b="0">
                <a:solidFill>
                  <a:srgbClr val="93A7BD"/>
                </a:solidFill>
                <a:latin typeface="Segoe UI"/>
              </a:rPr>
              <a:t>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696358" y="5029200"/>
            <a:ext cx="1099108" cy="246888"/>
          </a:xfrm>
          <a:prstGeom prst="roundRect">
            <a:avLst>
              <a:gd name="adj" fmla="val 50000"/>
            </a:avLst>
          </a:prstGeom>
          <a:solidFill>
            <a:srgbClr val="1B2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59E0B"/>
                </a:solidFill>
                <a:latin typeface="Segoe UI"/>
              </a:rPr>
              <a:t>SAFETY GATE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13755" y="5029200"/>
            <a:ext cx="329184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sz="1200" b="0">
                <a:solidFill>
                  <a:srgbClr val="93A7BD"/>
                </a:solidFill>
                <a:latin typeface="Segoe UI"/>
              </a:rPr>
              <a:t>→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42939" y="5029200"/>
            <a:ext cx="1324051" cy="246888"/>
          </a:xfrm>
          <a:prstGeom prst="roundRect">
            <a:avLst>
              <a:gd name="adj" fmla="val 50000"/>
            </a:avLst>
          </a:prstGeom>
          <a:solidFill>
            <a:srgbClr val="1B2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60A5FA"/>
                </a:solidFill>
                <a:latin typeface="Segoe UI"/>
              </a:rPr>
              <a:t>LIVE ACTUATORS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86446" y="5056632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sz="1050" b="0">
                <a:solidFill>
                  <a:srgbClr val="93A7BD"/>
                </a:solidFill>
                <a:latin typeface="Segoe UI"/>
              </a:rPr>
              <a:t>one closed loop, every 60 simulated minutes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31520" y="5577840"/>
            <a:ext cx="1399032" cy="246888"/>
          </a:xfrm>
          <a:prstGeom prst="roundRect">
            <a:avLst>
              <a:gd name="adj" fmla="val 50000"/>
            </a:avLst>
          </a:prstGeom>
          <a:solidFill>
            <a:srgbClr val="1B2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93A7BD"/>
                </a:solidFill>
                <a:latin typeface="Segoe UI"/>
              </a:rPr>
              <a:t>ENERGYPLUS 26.1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249424" y="5577840"/>
            <a:ext cx="1174089" cy="246888"/>
          </a:xfrm>
          <a:prstGeom prst="roundRect">
            <a:avLst>
              <a:gd name="adj" fmla="val 50000"/>
            </a:avLst>
          </a:prstGeom>
          <a:solidFill>
            <a:srgbClr val="1B2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93A7BD"/>
                </a:solidFill>
                <a:latin typeface="Segoe UI"/>
              </a:rPr>
              <a:t>PYENERGYPLUS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542385" y="5577840"/>
            <a:ext cx="799185" cy="246888"/>
          </a:xfrm>
          <a:prstGeom prst="roundRect">
            <a:avLst>
              <a:gd name="adj" fmla="val 50000"/>
            </a:avLst>
          </a:prstGeom>
          <a:solidFill>
            <a:srgbClr val="1B2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93A7BD"/>
                </a:solidFill>
                <a:latin typeface="Segoe UI"/>
              </a:rPr>
              <a:t>FASTMCP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460443" y="5577840"/>
            <a:ext cx="1923897" cy="246888"/>
          </a:xfrm>
          <a:prstGeom prst="roundRect">
            <a:avLst>
              <a:gd name="adj" fmla="val 50000"/>
            </a:avLst>
          </a:prstGeom>
          <a:solidFill>
            <a:srgbClr val="1B2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93A7BD"/>
                </a:solidFill>
                <a:latin typeface="Segoe UI"/>
              </a:rPr>
              <a:t>MODEL CONTEXT PROTOCOL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03212" y="5577840"/>
            <a:ext cx="1848916" cy="246888"/>
          </a:xfrm>
          <a:prstGeom prst="roundRect">
            <a:avLst>
              <a:gd name="adj" fmla="val 50000"/>
            </a:avLst>
          </a:prstGeom>
          <a:solidFill>
            <a:srgbClr val="1B2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93A7BD"/>
                </a:solidFill>
                <a:latin typeface="Segoe UI"/>
              </a:rPr>
              <a:t>OLLAMA + LLAMA 3.2 3B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471001" y="5577840"/>
            <a:ext cx="874166" cy="246888"/>
          </a:xfrm>
          <a:prstGeom prst="roundRect">
            <a:avLst>
              <a:gd name="adj" fmla="val 50000"/>
            </a:avLst>
          </a:prstGeom>
          <a:solidFill>
            <a:srgbClr val="1B2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93A7BD"/>
                </a:solidFill>
                <a:latin typeface="Segoe UI"/>
              </a:rPr>
              <a:t>PYDANTIC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464040" y="5577840"/>
            <a:ext cx="949147" cy="246888"/>
          </a:xfrm>
          <a:prstGeom prst="roundRect">
            <a:avLst>
              <a:gd name="adj" fmla="val 50000"/>
            </a:avLst>
          </a:prstGeom>
          <a:solidFill>
            <a:srgbClr val="1B2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93A7BD"/>
                </a:solidFill>
                <a:latin typeface="Segoe UI"/>
              </a:rPr>
              <a:t>STREAMLIT</a:t>
            </a:r>
          </a:p>
        </p:txBody>
      </p:sp>
    </p:spTree>
    <p:extLst>
      <p:ext uri="{BB962C8B-B14F-4D97-AF65-F5344CB8AC3E}">
        <p14:creationId xmlns:p14="http://schemas.microsoft.com/office/powerpoint/2010/main" val="331988478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6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ounded Rectangle 17"/>
          <p:cNvSpPr/>
          <p:nvPr/>
        </p:nvSpPr>
        <p:spPr>
          <a:xfrm>
            <a:off x="8010144" y="5029200"/>
            <a:ext cx="3456432" cy="1188720"/>
          </a:xfrm>
          <a:prstGeom prst="roundRect">
            <a:avLst>
              <a:gd name="adj" fmla="val 4000"/>
            </a:avLst>
          </a:prstGeom>
          <a:solidFill>
            <a:srgbClr val="162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4370832" y="5029200"/>
            <a:ext cx="3456432" cy="1188720"/>
          </a:xfrm>
          <a:prstGeom prst="roundRect">
            <a:avLst>
              <a:gd name="adj" fmla="val 4000"/>
            </a:avLst>
          </a:prstGeom>
          <a:solidFill>
            <a:srgbClr val="162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ounded Rectangle 13"/>
          <p:cNvSpPr/>
          <p:nvPr/>
        </p:nvSpPr>
        <p:spPr>
          <a:xfrm>
            <a:off x="731520" y="5029200"/>
            <a:ext cx="3456432" cy="1188720"/>
          </a:xfrm>
          <a:prstGeom prst="roundRect">
            <a:avLst>
              <a:gd name="adj" fmla="val 4000"/>
            </a:avLst>
          </a:prstGeom>
          <a:solidFill>
            <a:srgbClr val="162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6336792" y="3803904"/>
            <a:ext cx="5120640" cy="1060704"/>
          </a:xfrm>
          <a:prstGeom prst="roundRect">
            <a:avLst>
              <a:gd name="adj" fmla="val 4000"/>
            </a:avLst>
          </a:prstGeom>
          <a:solidFill>
            <a:srgbClr val="1B2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" name="TextBox 1"/>
          <p:cNvSpPr txBox="1"/>
          <p:nvPr/>
        </p:nvSpPr>
        <p:spPr>
          <a:xfrm>
            <a:off x="731520" y="6345936"/>
            <a:ext cx="3657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>
                <a:solidFill>
                  <a:srgbClr val="93A7BD"/>
                </a:solidFill>
                <a:latin typeface="Segoe UI"/>
              </a:rPr>
              <a:t>Echo-Loop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6345936"/>
            <a:ext cx="3685032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22E88A"/>
                </a:solidFill>
                <a:latin typeface="Segoe UI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12064"/>
            <a:ext cx="64008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 algn="l"/>
            <a:r>
              <a:rPr sz="1000" b="1">
                <a:solidFill>
                  <a:srgbClr val="22E88A"/>
                </a:solidFill>
                <a:latin typeface="Segoe UI"/>
              </a:rPr>
              <a:t>PROPOSED SOLUTION &amp; INNOVATION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32688"/>
            <a:ext cx="106984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sz="2700" b="0">
                <a:solidFill>
                  <a:srgbClr val="FFFFFF"/>
                </a:solidFill>
                <a:latin typeface="Segoe UI Semibold"/>
              </a:rPr>
              <a:t>Traditional BMS follow rigid clock schedules.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444752"/>
            <a:ext cx="106984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sz="1150" b="1">
                <a:solidFill>
                  <a:srgbClr val="CBD5E1"/>
                </a:solidFill>
                <a:latin typeface="Segoe UI"/>
              </a:rPr>
              <a:t>Echo-Loop turns the building into a self-correcting agent.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86537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sz="1300" b="0">
                <a:solidFill>
                  <a:srgbClr val="FFFFFF"/>
                </a:solidFill>
                <a:latin typeface="Segoe UI Semibold"/>
              </a:rPr>
              <a:t>How It Works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194560"/>
            <a:ext cx="51206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150000" indent="-150000">
              <a:spcAft>
                <a:spcPts val="800"/>
              </a:spcAft>
              <a:buFont typeface="Segoe UI"/>
              <a:buChar char="▪"/>
            </a:pPr>
            <a:r>
              <a:rPr sz="1150" b="0">
                <a:solidFill>
                  <a:srgbClr val="CBD5E1"/>
                </a:solidFill>
                <a:latin typeface="Segoe UI"/>
              </a:rPr>
              <a:t>EnergyPlus runs in-process; sensors read every zone timestep</a:t>
            </a:r>
          </a:p>
          <a:p>
            <a:pPr algn="l" marL="150000" indent="-150000">
              <a:spcAft>
                <a:spcPts val="800"/>
              </a:spcAft>
              <a:buFont typeface="Segoe UI"/>
              <a:buChar char="▪"/>
            </a:pPr>
            <a:r>
              <a:rPr sz="1150" b="0">
                <a:solidFill>
                  <a:srgbClr val="CBD5E1"/>
                </a:solidFill>
                <a:latin typeface="Segoe UI"/>
              </a:rPr>
              <a:t>Every 60 simulated minutes the state reaches a local LLM via six MCP tools</a:t>
            </a:r>
          </a:p>
          <a:p>
            <a:pPr algn="l" marL="150000" indent="-150000">
              <a:spcAft>
                <a:spcPts val="800"/>
              </a:spcAft>
              <a:buFont typeface="Segoe UI"/>
              <a:buChar char="▪"/>
            </a:pPr>
            <a:r>
              <a:rPr sz="1150" b="0">
                <a:solidFill>
                  <a:srgbClr val="CBD5E1"/>
                </a:solidFill>
                <a:latin typeface="Segoe UI"/>
              </a:rPr>
              <a:t>The model weighs comfort, demand and grid carbon, then returns setpoints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803904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sz="1300" b="0">
                <a:solidFill>
                  <a:srgbClr val="FFFFFF"/>
                </a:solidFill>
                <a:latin typeface="Segoe UI Semibold"/>
              </a:rPr>
              <a:t>Why It's Different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133087"/>
            <a:ext cx="5120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sz="1150" b="0">
                <a:solidFill>
                  <a:srgbClr val="CBD5E1"/>
                </a:solidFill>
                <a:latin typeface="Segoe UI"/>
              </a:rPr>
              <a:t>Most LLM-and-simulation work rewrites the model file and re-runs it — it cannot react to a zone drifting out of comfort at 14:00 on day 3. Echo-Loop does.</a:t>
            </a:r>
          </a:p>
        </p:txBody>
      </p:sp>
      <p:pic>
        <p:nvPicPr>
          <p:cNvPr id="11" name="Picture 10" descr="resul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6792" y="1865376"/>
            <a:ext cx="5120640" cy="173441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574536" y="3913632"/>
            <a:ext cx="4663440" cy="87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0" indent="0">
              <a:spcAft>
                <a:spcPts val="300"/>
              </a:spcAft>
              <a:buNone/>
            </a:pPr>
            <a:r>
              <a:rPr sz="900" b="1">
                <a:solidFill>
                  <a:srgbClr val="93A7BD"/>
                </a:solidFill>
                <a:latin typeface="Segoe UI"/>
              </a:rPr>
              <a:t>ONE LINE FROM A LIVE RUN</a:t>
            </a:r>
          </a:p>
          <a:p>
            <a:pPr algn="l" marL="0" indent="0">
              <a:spcAft>
                <a:spcPts val="300"/>
              </a:spcAft>
              <a:buNone/>
            </a:pPr>
            <a:r>
              <a:rPr sz="1050" b="0">
                <a:solidFill>
                  <a:srgbClr val="60A5FA"/>
                </a:solidFill>
                <a:latin typeface="Consolas"/>
              </a:rPr>
              <a:t>[ai 07-17 09:00] OAT=24.9C PMV=-1.02 kW=2.09</a:t>
            </a:r>
          </a:p>
          <a:p>
            <a:pPr algn="l" marL="0" indent="0">
              <a:spcAft>
                <a:spcPts val="300"/>
              </a:spcAft>
              <a:buNone/>
            </a:pPr>
            <a:r>
              <a:rPr sz="1050" b="0">
                <a:solidFill>
                  <a:srgbClr val="22E88A"/>
                </a:solidFill>
                <a:latin typeface="Consolas"/>
              </a:rPr>
              <a:t>   -&gt; cool=24.8 heat=19.2 (llm, 1.3s)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976" y="5120640"/>
            <a:ext cx="3035808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0" indent="0">
              <a:spcAft>
                <a:spcPts val="300"/>
              </a:spcAft>
              <a:buNone/>
            </a:pPr>
            <a:r>
              <a:rPr sz="1250" b="0">
                <a:solidFill>
                  <a:srgbClr val="60A5FA"/>
                </a:solidFill>
                <a:latin typeface="Segoe UI Semibold"/>
              </a:rPr>
              <a:t>Injected into the LIVE solver</a:t>
            </a:r>
          </a:p>
          <a:p>
            <a:pPr algn="l" marL="0" indent="0">
              <a:spcAft>
                <a:spcPts val="300"/>
              </a:spcAft>
              <a:buNone/>
            </a:pPr>
            <a:r>
              <a:rPr sz="1100" b="0">
                <a:solidFill>
                  <a:srgbClr val="CBD5E1"/>
                </a:solidFill>
                <a:latin typeface="Segoe UI"/>
              </a:rPr>
              <a:t>No IDF rewrite, no restart.</a:t>
            </a:r>
          </a:p>
          <a:p>
            <a:pPr algn="l" marL="0" indent="0">
              <a:spcAft>
                <a:spcPts val="300"/>
              </a:spcAft>
              <a:buNone/>
            </a:pPr>
            <a:r>
              <a:rPr sz="1000" b="0">
                <a:solidFill>
                  <a:srgbClr val="93A7BD"/>
                </a:solidFill>
                <a:latin typeface="Segoe UI"/>
              </a:rPr>
              <a:t>Setpoints reach the actuator handles mid-solve.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90288" y="5120640"/>
            <a:ext cx="3035808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0" indent="0">
              <a:spcAft>
                <a:spcPts val="300"/>
              </a:spcAft>
              <a:buNone/>
            </a:pPr>
            <a:r>
              <a:rPr sz="1250" b="0">
                <a:solidFill>
                  <a:srgbClr val="F59E0B"/>
                </a:solidFill>
                <a:latin typeface="Segoe UI Semibold"/>
              </a:rPr>
              <a:t>Safety Boundary</a:t>
            </a:r>
          </a:p>
          <a:p>
            <a:pPr algn="l" marL="0" indent="0">
              <a:spcAft>
                <a:spcPts val="300"/>
              </a:spcAft>
              <a:buNone/>
            </a:pPr>
            <a:r>
              <a:rPr sz="1100" b="0">
                <a:solidFill>
                  <a:srgbClr val="CBD5E1"/>
                </a:solidFill>
                <a:latin typeface="Segoe UI"/>
              </a:rPr>
              <a:t>MCP validates every command server-side.</a:t>
            </a:r>
          </a:p>
          <a:p>
            <a:pPr algn="l" marL="0" indent="0">
              <a:spcAft>
                <a:spcPts val="300"/>
              </a:spcAft>
              <a:buNone/>
            </a:pPr>
            <a:r>
              <a:rPr sz="1000" b="0">
                <a:solidFill>
                  <a:srgbClr val="93A7BD"/>
                </a:solidFill>
                <a:latin typeface="Segoe UI"/>
              </a:rPr>
              <a:t>Five gates; a rejected command never reaches the model.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5120640"/>
            <a:ext cx="3035808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0" indent="0">
              <a:spcAft>
                <a:spcPts val="300"/>
              </a:spcAft>
              <a:buNone/>
            </a:pPr>
            <a:r>
              <a:rPr sz="1250" b="0">
                <a:solidFill>
                  <a:srgbClr val="22E88A"/>
                </a:solidFill>
                <a:latin typeface="Segoe UI Semibold"/>
              </a:rPr>
              <a:t>Measured, Not Projected</a:t>
            </a:r>
          </a:p>
          <a:p>
            <a:pPr algn="l" marL="0" indent="0">
              <a:spcAft>
                <a:spcPts val="300"/>
              </a:spcAft>
              <a:buNone/>
            </a:pPr>
            <a:r>
              <a:rPr sz="1100" b="0">
                <a:solidFill>
                  <a:srgbClr val="CBD5E1"/>
                </a:solidFill>
                <a:latin typeface="Segoe UI"/>
              </a:rPr>
              <a:t>PMV −0.43 → −0.02 while saving 8.5%.</a:t>
            </a:r>
          </a:p>
          <a:p>
            <a:pPr algn="l" marL="0" indent="0">
              <a:spcAft>
                <a:spcPts val="300"/>
              </a:spcAft>
              <a:buNone/>
            </a:pPr>
            <a:r>
              <a:rPr sz="1000" b="0">
                <a:solidFill>
                  <a:srgbClr val="93A7BD"/>
                </a:solidFill>
                <a:latin typeface="Segoe UI"/>
              </a:rPr>
              <a:t>Both runs are committed EnergyPlus output.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6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6345936"/>
            <a:ext cx="3657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>
                <a:solidFill>
                  <a:srgbClr val="93A7BD"/>
                </a:solidFill>
                <a:latin typeface="Segoe UI"/>
              </a:rPr>
              <a:t>Echo-Loop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6345936"/>
            <a:ext cx="3685032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22E88A"/>
                </a:solidFill>
                <a:latin typeface="Segoe UI"/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12064"/>
            <a:ext cx="64008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 algn="l"/>
            <a:r>
              <a:rPr sz="1000" b="1">
                <a:solidFill>
                  <a:srgbClr val="22E88A"/>
                </a:solidFill>
                <a:latin typeface="Segoe UI"/>
              </a:rPr>
              <a:t>TECHNICAL APPROACH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32688"/>
            <a:ext cx="106984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sz="2700" b="0">
                <a:solidFill>
                  <a:srgbClr val="FFFFFF"/>
                </a:solidFill>
                <a:latin typeface="Segoe UI Semibold"/>
              </a:rPr>
              <a:t>The Closed Loop Architecture</a:t>
            </a:r>
          </a:p>
        </p:txBody>
      </p:sp>
      <p:pic>
        <p:nvPicPr>
          <p:cNvPr id="6" name="Picture 5" descr="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2768" y="1609344"/>
            <a:ext cx="9052560" cy="3354558"/>
          </a:xfrm>
          <a:prstGeom prst="rect">
            <a:avLst/>
          </a:prstGeom>
        </p:spPr>
      </p:pic>
      <p:pic>
        <p:nvPicPr>
          <p:cNvPr id="7" name="Picture 6" descr="timelin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4809744"/>
            <a:ext cx="10698480" cy="113887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5980176"/>
            <a:ext cx="106984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sz="1100" b="0">
                <a:solidFill>
                  <a:srgbClr val="93A7BD"/>
                </a:solidFill>
                <a:latin typeface="Segoe UI"/>
              </a:rPr>
              <a:t>Sample  →  Aggregate  →  LLM tool-calling turn  →  Validate gate  →  Inject into live actuators via the pyenergyplus C API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6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6345936"/>
            <a:ext cx="3657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>
                <a:solidFill>
                  <a:srgbClr val="93A7BD"/>
                </a:solidFill>
                <a:latin typeface="Segoe UI"/>
              </a:rPr>
              <a:t>Echo-Loop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6345936"/>
            <a:ext cx="3685032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22E88A"/>
                </a:solidFill>
                <a:latin typeface="Segoe UI"/>
              </a:rP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12064"/>
            <a:ext cx="64008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 algn="l"/>
            <a:r>
              <a:rPr sz="1000" b="1">
                <a:solidFill>
                  <a:srgbClr val="22E88A"/>
                </a:solidFill>
                <a:latin typeface="Segoe UI"/>
              </a:rPr>
              <a:t>FEASIBILITY AND VIABILITY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32688"/>
            <a:ext cx="106984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sz="2700" b="0">
                <a:solidFill>
                  <a:srgbClr val="FFFFFF"/>
                </a:solidFill>
                <a:latin typeface="Segoe UI Semibold"/>
              </a:rPr>
              <a:t>Feasibility and Overcoming Constraints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3291840" cy="67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sz="3400" b="0">
                <a:solidFill>
                  <a:srgbClr val="22E88A"/>
                </a:solidFill>
                <a:latin typeface="Segoe UI Semibold"/>
              </a:rPr>
              <a:t>336 / 336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377439"/>
            <a:ext cx="32918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0" indent="0">
              <a:spcAft>
                <a:spcPts val="200"/>
              </a:spcAft>
              <a:buNone/>
            </a:pPr>
            <a:r>
              <a:rPr sz="1300" b="0">
                <a:solidFill>
                  <a:srgbClr val="F1F5F9"/>
                </a:solidFill>
                <a:latin typeface="Segoe UI Semibold"/>
              </a:rPr>
              <a:t>Agent Turns</a:t>
            </a:r>
          </a:p>
          <a:p>
            <a:pPr algn="l" marL="0" indent="0">
              <a:spcAft>
                <a:spcPts val="200"/>
              </a:spcAft>
              <a:buNone/>
            </a:pPr>
            <a:r>
              <a:rPr sz="1100" b="0">
                <a:solidFill>
                  <a:srgbClr val="93A7BD"/>
                </a:solidFill>
                <a:latin typeface="Segoe UI"/>
              </a:rPr>
              <a:t>0 fallbacks · 0 timeouts · 0 errors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1737360"/>
            <a:ext cx="3291840" cy="67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sz="3400" b="0">
                <a:solidFill>
                  <a:srgbClr val="22E88A"/>
                </a:solidFill>
                <a:latin typeface="Segoe UI Semibold"/>
              </a:rPr>
              <a:t>−3.7%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0" y="2377439"/>
            <a:ext cx="32918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0" indent="0">
              <a:spcAft>
                <a:spcPts val="200"/>
              </a:spcAft>
              <a:buNone/>
            </a:pPr>
            <a:r>
              <a:rPr sz="1300" b="0">
                <a:solidFill>
                  <a:srgbClr val="F1F5F9"/>
                </a:solidFill>
                <a:latin typeface="Segoe UI Semibold"/>
              </a:rPr>
              <a:t>Winter Energy</a:t>
            </a:r>
          </a:p>
          <a:p>
            <a:pPr algn="l" marL="0" indent="0">
              <a:spcAft>
                <a:spcPts val="200"/>
              </a:spcAft>
              <a:buNone/>
            </a:pPr>
            <a:r>
              <a:rPr sz="1100" b="0">
                <a:solidFill>
                  <a:srgbClr val="93A7BD"/>
                </a:solidFill>
                <a:latin typeface="Segoe UI"/>
              </a:rPr>
              <a:t>Same loop, heating season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0" y="1737360"/>
            <a:ext cx="3291840" cy="67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sz="3400" b="0">
                <a:solidFill>
                  <a:srgbClr val="60A5FA"/>
                </a:solidFill>
                <a:latin typeface="Segoe UI Semibold"/>
              </a:rPr>
              <a:t>2.1 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0" y="2377439"/>
            <a:ext cx="32918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0" indent="0">
              <a:spcAft>
                <a:spcPts val="200"/>
              </a:spcAft>
              <a:buNone/>
            </a:pPr>
            <a:r>
              <a:rPr sz="1300" b="0">
                <a:solidFill>
                  <a:srgbClr val="F1F5F9"/>
                </a:solidFill>
                <a:latin typeface="Segoe UI Semibold"/>
              </a:rPr>
              <a:t>Median Latency</a:t>
            </a:r>
          </a:p>
          <a:p>
            <a:pPr algn="l" marL="0" indent="0">
              <a:spcAft>
                <a:spcPts val="200"/>
              </a:spcAft>
              <a:buNone/>
            </a:pPr>
            <a:r>
              <a:rPr sz="1100" b="0">
                <a:solidFill>
                  <a:srgbClr val="93A7BD"/>
                </a:solidFill>
                <a:latin typeface="Segoe UI"/>
              </a:rPr>
              <a:t>Fully on-device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072384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sz="1300" b="0">
                <a:solidFill>
                  <a:srgbClr val="F59E0B"/>
                </a:solidFill>
                <a:latin typeface="Segoe UI Semibold"/>
              </a:rPr>
              <a:t>Risks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401568"/>
            <a:ext cx="5120640" cy="1572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150000" indent="-150000">
              <a:spcAft>
                <a:spcPts val="1000"/>
              </a:spcAft>
              <a:buFont typeface="Segoe UI"/>
              <a:buChar char="▪"/>
            </a:pPr>
            <a:r>
              <a:rPr sz="1150" b="0">
                <a:solidFill>
                  <a:srgbClr val="CBD5E1"/>
                </a:solidFill>
                <a:latin typeface="Segoe UI"/>
              </a:rPr>
              <a:t>LLM latency inside a blocking simulation callback</a:t>
            </a:r>
          </a:p>
          <a:p>
            <a:pPr algn="l" marL="150000" indent="-150000">
              <a:spcAft>
                <a:spcPts val="1000"/>
              </a:spcAft>
              <a:buFont typeface="Segoe UI"/>
              <a:buChar char="▪"/>
            </a:pPr>
            <a:r>
              <a:rPr sz="1150" b="0">
                <a:solidFill>
                  <a:srgbClr val="CBD5E1"/>
                </a:solidFill>
                <a:latin typeface="Segoe UI"/>
              </a:rPr>
              <a:t>A small model can move the wrong setpoint, or run heating against cooling</a:t>
            </a:r>
          </a:p>
          <a:p>
            <a:pPr algn="l" marL="150000" indent="-150000">
              <a:spcAft>
                <a:spcPts val="1000"/>
              </a:spcAft>
              <a:buFont typeface="Segoe UI"/>
              <a:buChar char="▪"/>
            </a:pPr>
            <a:r>
              <a:rPr sz="1150" b="0">
                <a:solidFill>
                  <a:srgbClr val="CBD5E1"/>
                </a:solidFill>
                <a:latin typeface="Segoe UI"/>
              </a:rPr>
              <a:t>One setpoint pair cannot satisfy five differently-loaded zones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36792" y="3072384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sz="1300" b="0">
                <a:solidFill>
                  <a:srgbClr val="22E88A"/>
                </a:solidFill>
                <a:latin typeface="Segoe UI Semibold"/>
              </a:rPr>
              <a:t>Solutions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36792" y="3401568"/>
            <a:ext cx="5120640" cy="1572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150000" indent="-150000">
              <a:spcAft>
                <a:spcPts val="1000"/>
              </a:spcAft>
              <a:buFont typeface="Segoe UI"/>
              <a:buChar char="▪"/>
            </a:pPr>
            <a:r>
              <a:rPr sz="1150" b="0">
                <a:solidFill>
                  <a:srgbClr val="CBD5E1"/>
                </a:solidFill>
                <a:latin typeface="Segoe UI"/>
              </a:rPr>
              <a:t>Hard per-turn deadline; on timeout the loop holds the last accepted command</a:t>
            </a:r>
          </a:p>
          <a:p>
            <a:pPr algn="l" marL="150000" indent="-150000">
              <a:spcAft>
                <a:spcPts val="1000"/>
              </a:spcAft>
              <a:buFont typeface="Segoe UI"/>
              <a:buChar char="▪"/>
            </a:pPr>
            <a:r>
              <a:rPr sz="1150" b="0">
                <a:solidFill>
                  <a:srgbClr val="CBD5E1"/>
                </a:solidFill>
                <a:latin typeface="Segoe UI"/>
              </a:rPr>
              <a:t>Observations state the required direction — the model cannot invert physics</a:t>
            </a:r>
          </a:p>
          <a:p>
            <a:pPr algn="l" marL="150000" indent="-150000">
              <a:spcAft>
                <a:spcPts val="1000"/>
              </a:spcAft>
              <a:buFont typeface="Segoe UI"/>
              <a:buChar char="▪"/>
            </a:pPr>
            <a:r>
              <a:rPr sz="1150" b="0">
                <a:solidFill>
                  <a:srgbClr val="CBD5E1"/>
                </a:solidFill>
                <a:latin typeface="Segoe UI"/>
              </a:rPr>
              <a:t>Seasonal changeover parks the idle setpoint; a per-zone trim corrects each zone</a:t>
            </a:r>
          </a:p>
        </p:txBody>
      </p:sp>
      <p:pic>
        <p:nvPicPr>
          <p:cNvPr id="16" name="Picture 15" descr="pipel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4773168"/>
            <a:ext cx="10241280" cy="14205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62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8B09052-50AE-B3C2-6A1C-5CFF37D94A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ounded Rectangle 13"/>
          <p:cNvSpPr/>
          <p:nvPr/>
        </p:nvSpPr>
        <p:spPr>
          <a:xfrm>
            <a:off x="6336792" y="5230368"/>
            <a:ext cx="5120640" cy="969264"/>
          </a:xfrm>
          <a:prstGeom prst="roundRect">
            <a:avLst>
              <a:gd name="adj" fmla="val 4000"/>
            </a:avLst>
          </a:prstGeom>
          <a:solidFill>
            <a:srgbClr val="162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896112"/>
          </a:xfrm>
          <a:prstGeom prst="roundRect">
            <a:avLst>
              <a:gd name="adj" fmla="val 4000"/>
            </a:avLst>
          </a:prstGeom>
          <a:solidFill>
            <a:srgbClr val="162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" name="TextBox 1"/>
          <p:cNvSpPr txBox="1"/>
          <p:nvPr/>
        </p:nvSpPr>
        <p:spPr>
          <a:xfrm>
            <a:off x="731520" y="6345936"/>
            <a:ext cx="3657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>
                <a:solidFill>
                  <a:srgbClr val="93A7BD"/>
                </a:solidFill>
                <a:latin typeface="Segoe UI"/>
              </a:rPr>
              <a:t>Echo-Loop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6345936"/>
            <a:ext cx="3685032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22E88A"/>
                </a:solidFill>
                <a:latin typeface="Segoe UI"/>
              </a:rP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12064"/>
            <a:ext cx="64008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 algn="l"/>
            <a:r>
              <a:rPr sz="1000" b="1">
                <a:solidFill>
                  <a:srgbClr val="22E88A"/>
                </a:solidFill>
                <a:latin typeface="Segoe UI"/>
              </a:rPr>
              <a:t>ARTIFACTS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32688"/>
            <a:ext cx="106984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sz="2700" b="0">
                <a:solidFill>
                  <a:srgbClr val="FFFFFF"/>
                </a:solidFill>
                <a:latin typeface="Segoe UI Semibold"/>
              </a:rPr>
              <a:t>Artifacts &amp; References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7552" y="1920240"/>
            <a:ext cx="1014984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l">
              <a:buNone/>
            </a:pPr>
            <a:r>
              <a:rPr sz="1250">
                <a:solidFill>
                  <a:srgbClr val="F1F5F9"/>
                </a:solidFill>
                <a:latin typeface="Segoe UI Semibold"/>
              </a:rPr>
              <a:t>Repository   </a:t>
            </a:r>
            <a:r>
              <a:rPr sz="1250" b="1">
                <a:solidFill>
                  <a:srgbClr val="60A5FA"/>
                </a:solidFill>
                <a:latin typeface="Consolas"/>
                <a:hlinkClick r:id="rId3"/>
              </a:rPr>
              <a:t>github.com/ayushYadav1107/Eco_loop</a:t>
            </a:r>
            <a:r>
              <a:rPr sz="1250">
                <a:solidFill>
                  <a:srgbClr val="F1F5F9"/>
                </a:solidFill>
                <a:latin typeface="Segoe UI Semibold"/>
              </a:rPr>
              <a:t>        Live demo   </a:t>
            </a:r>
            <a:r>
              <a:rPr sz="1250" b="1">
                <a:solidFill>
                  <a:srgbClr val="60A5FA"/>
                </a:solidFill>
                <a:latin typeface="Consolas"/>
                <a:hlinkClick r:id="rId4"/>
              </a:rPr>
              <a:t>eco-loop-agents.streamlit.app</a:t>
            </a:r>
          </a:p>
          <a:p>
            <a:pPr marL="0" indent="0">
              <a:buNone/>
            </a:pPr>
            <a:r>
              <a:rPr sz="1100">
                <a:solidFill>
                  <a:srgbClr val="CBD5E1"/>
                </a:solidFill>
                <a:latin typeface="Segoe UI"/>
              </a:rPr>
              <a:t>Baseline and runtime-generated .idf models, agent_decisions.jsonl and per-timestep EnergyPlus results are all committed — a fresh clone reproduces every figure in this deck.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889504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sz="1300" b="0">
                <a:solidFill>
                  <a:srgbClr val="60A5FA"/>
                </a:solidFill>
                <a:latin typeface="Segoe UI Semibold"/>
              </a:rPr>
              <a:t>Simulation &amp; Building Physics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218688"/>
            <a:ext cx="5120640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150000" indent="-150000">
              <a:spcAft>
                <a:spcPts val="800"/>
              </a:spcAft>
              <a:buFont typeface="Segoe UI"/>
              <a:buChar char="▪"/>
            </a:pPr>
            <a:r>
              <a:rPr sz="1150" b="0">
                <a:solidFill>
                  <a:srgbClr val="CBD5E1"/>
                </a:solidFill>
                <a:latin typeface="Segoe UI"/>
              </a:rPr>
              <a:t>EnergyPlus Engineering Reference &amp; EMS Application Guide</a:t>
            </a:r>
          </a:p>
          <a:p>
            <a:pPr algn="l" marL="150000" indent="-150000">
              <a:spcAft>
                <a:spcPts val="800"/>
              </a:spcAft>
              <a:buFont typeface="Segoe UI"/>
              <a:buChar char="▪"/>
            </a:pPr>
            <a:r>
              <a:rPr sz="1150" b="0">
                <a:solidFill>
                  <a:srgbClr val="CBD5E1"/>
                </a:solidFill>
                <a:latin typeface="Segoe UI"/>
              </a:rPr>
              <a:t>pyenergyplus Data Exchange API — get_variable_handle, set_actuator_value</a:t>
            </a:r>
          </a:p>
          <a:p>
            <a:pPr algn="l" marL="150000" indent="-150000">
              <a:spcAft>
                <a:spcPts val="800"/>
              </a:spcAft>
              <a:buFont typeface="Segoe UI"/>
              <a:buChar char="▪"/>
            </a:pPr>
            <a:r>
              <a:rPr sz="1150" b="0">
                <a:solidFill>
                  <a:srgbClr val="CBD5E1"/>
                </a:solidFill>
                <a:latin typeface="Segoe UI"/>
              </a:rPr>
              <a:t>ISO 7730:2005 &amp; ASHRAE Standard 55 — PMV/PPD comfort model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59028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sz="1300" b="0">
                <a:solidFill>
                  <a:srgbClr val="60A5FA"/>
                </a:solidFill>
                <a:latin typeface="Segoe UI Semibold"/>
              </a:rPr>
              <a:t>Agent, Protocol &amp; Inference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919472"/>
            <a:ext cx="5120640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150000" indent="-150000">
              <a:spcAft>
                <a:spcPts val="800"/>
              </a:spcAft>
              <a:buFont typeface="Segoe UI"/>
              <a:buChar char="▪"/>
            </a:pPr>
            <a:r>
              <a:rPr sz="1150" b="0">
                <a:solidFill>
                  <a:srgbClr val="CBD5E1"/>
                </a:solidFill>
                <a:latin typeface="Segoe UI"/>
              </a:rPr>
              <a:t>Model Context Protocol — modelcontextprotocol.io</a:t>
            </a:r>
          </a:p>
          <a:p>
            <a:pPr algn="l" marL="150000" indent="-150000">
              <a:spcAft>
                <a:spcPts val="800"/>
              </a:spcAft>
              <a:buFont typeface="Segoe UI"/>
              <a:buChar char="▪"/>
            </a:pPr>
            <a:r>
              <a:rPr sz="1150" b="0">
                <a:solidFill>
                  <a:srgbClr val="CBD5E1"/>
                </a:solidFill>
                <a:latin typeface="Segoe UI"/>
              </a:rPr>
              <a:t>FastMCP — gofastmcp.com</a:t>
            </a:r>
          </a:p>
          <a:p>
            <a:pPr algn="l" marL="150000" indent="-150000">
              <a:spcAft>
                <a:spcPts val="800"/>
              </a:spcAft>
              <a:buFont typeface="Segoe UI"/>
              <a:buChar char="▪"/>
            </a:pPr>
            <a:r>
              <a:rPr sz="1150" b="0">
                <a:solidFill>
                  <a:srgbClr val="CBD5E1"/>
                </a:solidFill>
                <a:latin typeface="Segoe UI"/>
              </a:rPr>
              <a:t>Meta Llama 3.2 served locally through Ollama — ollama.com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36792" y="2889504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sz="1300" b="0">
                <a:solidFill>
                  <a:srgbClr val="22E88A"/>
                </a:solidFill>
                <a:latin typeface="Segoe UI Semibold"/>
              </a:rPr>
              <a:t>168 setpoint decisions, one summer week</a:t>
            </a:r>
          </a:p>
        </p:txBody>
      </p:sp>
      <p:pic>
        <p:nvPicPr>
          <p:cNvPr id="13" name="Picture 12" descr="decisi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36792" y="3218688"/>
            <a:ext cx="5120640" cy="1897527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574536" y="5340096"/>
            <a:ext cx="4663440" cy="7863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0" indent="0">
              <a:spcAft>
                <a:spcPts val="300"/>
              </a:spcAft>
              <a:buNone/>
            </a:pPr>
            <a:r>
              <a:rPr sz="1150" b="0">
                <a:solidFill>
                  <a:srgbClr val="F1F5F9"/>
                </a:solidFill>
                <a:latin typeface="Segoe UI Semibold"/>
              </a:rPr>
              <a:t>Every decision is logged with the model's own reason</a:t>
            </a:r>
          </a:p>
          <a:p>
            <a:pPr algn="l" marL="0" indent="0">
              <a:spcAft>
                <a:spcPts val="300"/>
              </a:spcAft>
              <a:buNone/>
            </a:pPr>
            <a:r>
              <a:rPr sz="1050" b="0">
                <a:solidFill>
                  <a:srgbClr val="93A7BD"/>
                </a:solidFill>
                <a:latin typeface="Segoe UI"/>
              </a:rPr>
              <a:t>outputs/ai/agent_decisions.jsonl — committed, one JSON record per control interval.</a:t>
            </a:r>
          </a:p>
        </p:txBody>
      </p:sp>
    </p:spTree>
    <p:extLst>
      <p:ext uri="{BB962C8B-B14F-4D97-AF65-F5344CB8AC3E}">
        <p14:creationId xmlns:p14="http://schemas.microsoft.com/office/powerpoint/2010/main" val="97344788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6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ounded Rectangle 11"/>
          <p:cNvSpPr/>
          <p:nvPr/>
        </p:nvSpPr>
        <p:spPr>
          <a:xfrm>
            <a:off x="6336792" y="3913632"/>
            <a:ext cx="5120640" cy="2103120"/>
          </a:xfrm>
          <a:prstGeom prst="roundRect">
            <a:avLst>
              <a:gd name="adj" fmla="val 4000"/>
            </a:avLst>
          </a:prstGeom>
          <a:solidFill>
            <a:srgbClr val="162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731520" y="2011680"/>
            <a:ext cx="5120640" cy="1700784"/>
          </a:xfrm>
          <a:prstGeom prst="roundRect">
            <a:avLst>
              <a:gd name="adj" fmla="val 4000"/>
            </a:avLst>
          </a:prstGeom>
          <a:solidFill>
            <a:srgbClr val="1B2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" name="TextBox 1"/>
          <p:cNvSpPr txBox="1"/>
          <p:nvPr/>
        </p:nvSpPr>
        <p:spPr>
          <a:xfrm>
            <a:off x="731520" y="6345936"/>
            <a:ext cx="3657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>
                <a:solidFill>
                  <a:srgbClr val="93A7BD"/>
                </a:solidFill>
                <a:latin typeface="Segoe UI"/>
              </a:rPr>
              <a:t>Echo-Loop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6345936"/>
            <a:ext cx="3685032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22E88A"/>
                </a:solidFill>
                <a:latin typeface="Segoe UI"/>
              </a:rP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12064"/>
            <a:ext cx="64008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 algn="l"/>
            <a:r>
              <a:rPr sz="1000" b="1">
                <a:solidFill>
                  <a:srgbClr val="22E88A"/>
                </a:solidFill>
                <a:latin typeface="Segoe UI"/>
              </a:rPr>
              <a:t>RESEARCH AND 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32688"/>
            <a:ext cx="106984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sz="2700" b="0">
                <a:solidFill>
                  <a:srgbClr val="FFFFFF"/>
                </a:solidFill>
                <a:latin typeface="Segoe UI Semibold"/>
              </a:rPr>
              <a:t>Auditable, Not Anecdotal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444752"/>
            <a:ext cx="106984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sz="1150" b="1">
                <a:solidFill>
                  <a:srgbClr val="CBD5E1"/>
                </a:solidFill>
                <a:latin typeface="Segoe UI"/>
              </a:rPr>
              <a:t>The controller runs at temperature 0 — repeated runs return identical totals. Anyone can clone the repo and reproduce these exact figures.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9264" y="2139696"/>
            <a:ext cx="4663440" cy="14996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0" indent="0">
              <a:spcAft>
                <a:spcPts val="600"/>
              </a:spcAft>
              <a:buNone/>
            </a:pPr>
            <a:r>
              <a:rPr sz="1100" b="0">
                <a:solidFill>
                  <a:srgbClr val="22E88A"/>
                </a:solidFill>
                <a:latin typeface="Consolas"/>
              </a:rPr>
              <a:t>python main.py prepare</a:t>
            </a:r>
          </a:p>
          <a:p>
            <a:pPr algn="l" marL="0" indent="0">
              <a:spcAft>
                <a:spcPts val="600"/>
              </a:spcAft>
              <a:buNone/>
            </a:pPr>
            <a:r>
              <a:rPr sz="1100" b="0">
                <a:solidFill>
                  <a:srgbClr val="22E88A"/>
                </a:solidFill>
                <a:latin typeface="Consolas"/>
              </a:rPr>
              <a:t>python main.py run-baseline --start 07-15 --end 07-21</a:t>
            </a:r>
          </a:p>
          <a:p>
            <a:pPr algn="l" marL="0" indent="0">
              <a:spcAft>
                <a:spcPts val="600"/>
              </a:spcAft>
              <a:buNone/>
            </a:pPr>
            <a:r>
              <a:rPr sz="1100" b="0">
                <a:solidFill>
                  <a:srgbClr val="22E88A"/>
                </a:solidFill>
                <a:latin typeface="Consolas"/>
              </a:rPr>
              <a:t>python main.py run-ai --start 07-15 --end 07-21</a:t>
            </a:r>
          </a:p>
          <a:p>
            <a:pPr algn="l" marL="0" indent="0">
              <a:spcAft>
                <a:spcPts val="600"/>
              </a:spcAft>
              <a:buNone/>
            </a:pPr>
            <a:r>
              <a:rPr sz="1100" b="0">
                <a:solidFill>
                  <a:srgbClr val="22E88A"/>
                </a:solidFill>
                <a:latin typeface="Consolas"/>
              </a:rPr>
              <a:t>python main.py dashboard</a:t>
            </a:r>
          </a:p>
          <a:p>
            <a:pPr algn="l" marL="0" indent="0">
              <a:spcAft>
                <a:spcPts val="600"/>
              </a:spcAft>
              <a:buNone/>
            </a:pPr>
            <a:r>
              <a:rPr sz="1000" b="0">
                <a:solidFill>
                  <a:srgbClr val="93A7BD"/>
                </a:solidFill>
                <a:latin typeface="Consolas"/>
              </a:rPr>
              <a:t># ~6 min end to end on a laptop — EnergyPlus 26.1 + Ollama,</a:t>
            </a:r>
          </a:p>
          <a:p>
            <a:pPr algn="l" marL="0" indent="0">
              <a:spcAft>
                <a:spcPts val="600"/>
              </a:spcAft>
              <a:buNone/>
            </a:pPr>
            <a:r>
              <a:rPr sz="1000" b="0">
                <a:solidFill>
                  <a:srgbClr val="93A7BD"/>
                </a:solidFill>
                <a:latin typeface="Consolas"/>
              </a:rPr>
              <a:t># no cloud, no API key, no paid service anywhere in the loop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36792" y="201168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sz="1300" b="0">
                <a:solidFill>
                  <a:srgbClr val="FFFFFF"/>
                </a:solidFill>
                <a:latin typeface="Segoe UI Semibold"/>
              </a:rPr>
              <a:t>Four Commands. Full Reproduction.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36792" y="2340864"/>
            <a:ext cx="51206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150000" indent="-150000">
              <a:spcAft>
                <a:spcPts val="700"/>
              </a:spcAft>
              <a:buFont typeface="Segoe UI"/>
              <a:buChar char="▪"/>
            </a:pPr>
            <a:r>
              <a:rPr sz="1150" b="0">
                <a:solidFill>
                  <a:srgbClr val="CBD5E1"/>
                </a:solidFill>
                <a:latin typeface="Segoe UI"/>
              </a:rPr>
              <a:t>prepare — stage and instrument the EnergyPlus model</a:t>
            </a:r>
          </a:p>
          <a:p>
            <a:pPr algn="l" marL="150000" indent="-150000">
              <a:spcAft>
                <a:spcPts val="700"/>
              </a:spcAft>
              <a:buFont typeface="Segoe UI"/>
              <a:buChar char="▪"/>
            </a:pPr>
            <a:r>
              <a:rPr sz="1150" b="0">
                <a:solidFill>
                  <a:srgbClr val="CBD5E1"/>
                </a:solidFill>
                <a:latin typeface="Segoe UI"/>
              </a:rPr>
              <a:t>run-baseline — the same building on its native schedule</a:t>
            </a:r>
          </a:p>
          <a:p>
            <a:pPr algn="l" marL="150000" indent="-150000">
              <a:spcAft>
                <a:spcPts val="700"/>
              </a:spcAft>
              <a:buFont typeface="Segoe UI"/>
              <a:buChar char="▪"/>
            </a:pPr>
            <a:r>
              <a:rPr sz="1150" b="0">
                <a:solidFill>
                  <a:srgbClr val="CBD5E1"/>
                </a:solidFill>
                <a:latin typeface="Segoe UI"/>
              </a:rPr>
              <a:t>run-ai — the closed loop, 168 agent decisions</a:t>
            </a:r>
          </a:p>
          <a:p>
            <a:pPr algn="l" marL="150000" indent="-150000">
              <a:spcAft>
                <a:spcPts val="700"/>
              </a:spcAft>
              <a:buFont typeface="Segoe UI"/>
              <a:buChar char="▪"/>
            </a:pPr>
            <a:r>
              <a:rPr sz="1150" b="0">
                <a:solidFill>
                  <a:srgbClr val="CBD5E1"/>
                </a:solidFill>
                <a:latin typeface="Segoe UI"/>
              </a:rPr>
              <a:t>dashboard — the savings comparison, side by side</a:t>
            </a:r>
          </a:p>
        </p:txBody>
      </p:sp>
      <p:pic>
        <p:nvPicPr>
          <p:cNvPr id="11" name="Picture 10" descr="comfort_di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913632"/>
            <a:ext cx="5120640" cy="2308485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574536" y="4041648"/>
            <a:ext cx="4645152" cy="1847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0" indent="0">
              <a:spcAft>
                <a:spcPts val="800"/>
              </a:spcAft>
              <a:buNone/>
            </a:pPr>
            <a:r>
              <a:rPr sz="1250" b="0">
                <a:solidFill>
                  <a:srgbClr val="F59E0B"/>
                </a:solidFill>
                <a:latin typeface="Segoe UI Semibold"/>
              </a:rPr>
              <a:t>Honest limitation</a:t>
            </a:r>
          </a:p>
          <a:p>
            <a:pPr algn="l" marL="0" indent="0">
              <a:spcAft>
                <a:spcPts val="800"/>
              </a:spcAft>
              <a:buNone/>
            </a:pPr>
            <a:r>
              <a:rPr sz="1150" b="0">
                <a:solidFill>
                  <a:srgbClr val="CBD5E1"/>
                </a:solidFill>
                <a:latin typeface="Segoe UI"/>
              </a:rPr>
              <a:t>One setpoint pair drives five differently-loaded zones. Per zone the agent holds 85–96% of occupied time inside the PMV band; the stricter worst-zone metric is lower.</a:t>
            </a:r>
          </a:p>
          <a:p>
            <a:pPr algn="l" marL="0" indent="0">
              <a:spcAft>
                <a:spcPts val="800"/>
              </a:spcAft>
              <a:buNone/>
            </a:pPr>
            <a:r>
              <a:rPr sz="1150" b="0">
                <a:solidFill>
                  <a:srgbClr val="93A7BD"/>
                </a:solidFill>
                <a:latin typeface="Segoe UI"/>
              </a:rPr>
              <a:t>Per-zone setpoints are the next step — the actuator handles and per-zone PMV are already in place.</a:t>
            </a:r>
          </a:p>
          <a:p>
            <a:pPr algn="l" marL="0" indent="0">
              <a:spcAft>
                <a:spcPts val="800"/>
              </a:spcAft>
              <a:buNone/>
            </a:pPr>
            <a:r>
              <a:rPr sz="1050" b="0">
                <a:solidFill>
                  <a:srgbClr val="60A5FA"/>
                </a:solidFill>
                <a:latin typeface="Segoe UI"/>
              </a:rPr>
              <a:t>Stated in full in ARCHITECTURE.md §8 — nothing here is hidden.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60A5FA"/>
      </a:hlink>
      <a:folHlink>
        <a:srgbClr val="93A7BD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Metadata/LabelInfo.xml><?xml version="1.0" encoding="utf-8"?>
<clbl:labelList xmlns:clbl="http://schemas.microsoft.com/office/2020/mipLabelMetadata">
  <clbl:label id="{d546e5e1-5d42-4630-bacd-c69bfdcbd5e8}" enabled="1" method="Standard" siteId="{96ece526-9c7d-48b0-8daf-8b93c90a5d18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7668</TotalTime>
  <Words>320</Words>
  <Application>Microsoft Office PowerPoint</Application>
  <PresentationFormat>Widescreen</PresentationFormat>
  <Paragraphs>60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3" baseType="lpstr">
      <vt:lpstr>ＭＳ Ｐゴシック</vt:lpstr>
      <vt:lpstr>Arial</vt:lpstr>
      <vt:lpstr>Calibri</vt:lpstr>
      <vt:lpstr>Times New Roman</vt:lpstr>
      <vt:lpstr>TradeGothic</vt:lpstr>
      <vt:lpstr>Office Theme</vt:lpstr>
      <vt:lpstr>PowerPoint Presentation</vt:lpstr>
      <vt:lpstr>PowerPoint Presentation</vt:lpstr>
      <vt:lpstr> IDEA TITLE</vt:lpstr>
      <vt:lpstr>TECHNICAL APPROACH</vt:lpstr>
      <vt:lpstr>FEASIBILITY AND VIABILITY</vt:lpstr>
      <vt:lpstr>ARTIFACTS</vt:lpstr>
      <vt:lpstr>RESEARCH  AND REFERENCES</vt:lpstr>
    </vt:vector>
  </TitlesOfParts>
  <Manager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Idea Template</dc:title>
  <dc:subject/>
  <cp:keywords/>
  <dc:description/>
  <cp:lastModifiedBy>Ramesh MV (HirePro)</cp:lastModifiedBy>
  <cp:revision>153</cp:revision>
  <dcterms:created xsi:type="dcterms:W3CDTF">2013-12-12T18:46:50Z</dcterms:created>
  <dcterms:modified xsi:type="dcterms:W3CDTF">2026-07-24T16:33:04Z</dcterms:modified>
  <cp:category/>
</cp:coreProperties>
</file>